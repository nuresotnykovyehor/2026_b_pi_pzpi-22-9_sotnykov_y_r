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9144000" cy="16256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0" y="1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1517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flip="none" rotWithShape="1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flip="none" rotWithShape="1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649046" y="1498600"/>
            <a:ext cx="12700000" cy="370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5200" b="1" kern="0" spc="1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Вебплатформа</a:t>
            </a:r>
            <a:r>
              <a:rPr lang="ru-RU" sz="5200" b="1" kern="0" spc="1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для </a:t>
            </a:r>
            <a:r>
              <a:rPr lang="ru-RU" sz="5200" b="1" kern="0" spc="1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проведення</a:t>
            </a:r>
            <a:r>
              <a:rPr lang="ru-RU" sz="5200" b="1" kern="0" spc="1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ru-RU" sz="5200" b="1" kern="0" spc="1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технічних</a:t>
            </a:r>
            <a:r>
              <a:rPr lang="ru-RU" sz="5200" b="1" kern="0" spc="1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ru-RU" sz="5200" b="1" kern="0" spc="1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інтерв’ю</a:t>
            </a:r>
            <a:r>
              <a:rPr lang="ru-RU" sz="5200" b="1" kern="0" spc="1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та </a:t>
            </a:r>
            <a:r>
              <a:rPr lang="ru-RU" sz="5200" b="1" kern="0" spc="1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автоматизованого</a:t>
            </a:r>
            <a:endParaRPr lang="ru-RU" sz="5200" b="1" kern="0" spc="100" dirty="0">
              <a:solidFill>
                <a:srgbClr val="3C4A5A"/>
              </a:solidFill>
              <a:latin typeface="Times New Roman" panose="02020603050405020304" pitchFamily="18" charset="0"/>
              <a:ea typeface="Liter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ru-RU" sz="5200" b="1" kern="0" spc="1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оцінювання</a:t>
            </a:r>
            <a:r>
              <a:rPr lang="ru-RU" sz="5200" b="1" kern="0" spc="1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ru-RU" sz="5200" b="1" kern="0" spc="1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кандидатів</a:t>
            </a:r>
            <a:r>
              <a:rPr lang="ru-RU" sz="5200" b="1" kern="0" spc="1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у </a:t>
            </a:r>
            <a:r>
              <a:rPr lang="ru-RU" sz="5200" b="1" kern="0" spc="1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режимі</a:t>
            </a:r>
            <a:r>
              <a:rPr lang="ru-RU" sz="5200" b="1" kern="0" spc="1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реального часу. </a:t>
            </a:r>
            <a:r>
              <a:rPr lang="ru-RU" sz="5200" b="1" kern="0" spc="1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Front-End</a:t>
            </a:r>
            <a:r>
              <a:rPr lang="ru-RU" sz="5200" b="1" kern="0" spc="1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 3"/>
          <p:cNvSpPr/>
          <p:nvPr/>
        </p:nvSpPr>
        <p:spPr>
          <a:xfrm>
            <a:off x="3048000" y="5207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ru-RU" sz="2000" b="1" kern="0" spc="1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Кваліфікаційна</a:t>
            </a:r>
            <a:r>
              <a:rPr lang="ru-RU" sz="2000" b="1" kern="0" spc="1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робота бакалавра</a:t>
            </a:r>
            <a:endParaRPr lang="en-US" sz="2000" b="1" kern="0" spc="100" dirty="0">
              <a:solidFill>
                <a:srgbClr val="3C4A5A"/>
              </a:solidFill>
              <a:latin typeface="Times New Roman" panose="02020603050405020304" pitchFamily="18" charset="0"/>
              <a:ea typeface="Liter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0" y="5334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5715000"/>
            <a:ext cx="7620000" cy="2409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Виконав: студент гр. ПЗПІ-22-9 Сотников Є. Р.</a:t>
            </a:r>
            <a:endParaRPr lang="en-US" sz="1600" dirty="0">
              <a:latin typeface="Times New Roman" panose="02020603050405020304" pitchFamily="18" charset="0"/>
              <a:ea typeface="Liter"/>
            </a:endParaRPr>
          </a:p>
          <a:p>
            <a:pPr algn="ctr">
              <a:lnSpc>
                <a:spcPct val="180000"/>
              </a:lnSpc>
            </a:pPr>
            <a:r>
              <a:rPr lang="en-US" sz="1600" dirty="0" err="1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Керівник</a:t>
            </a: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: </a:t>
            </a:r>
            <a:r>
              <a:rPr lang="uk-UA" sz="1600" dirty="0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доц. </a:t>
            </a:r>
            <a:r>
              <a:rPr lang="uk-UA" sz="1600" dirty="0" err="1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Русакова</a:t>
            </a:r>
            <a:r>
              <a:rPr lang="uk-UA" sz="1600" dirty="0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Наталія</a:t>
            </a:r>
            <a:br>
              <a:rPr lang="uk-UA" sz="1600" dirty="0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</a:br>
            <a:r>
              <a:rPr lang="ru-RU" sz="1600" dirty="0" err="1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Харківський</a:t>
            </a:r>
            <a:r>
              <a:rPr lang="ru-RU" sz="1600" dirty="0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національний</a:t>
            </a:r>
            <a:r>
              <a:rPr lang="ru-RU" sz="1600" dirty="0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університет</a:t>
            </a:r>
            <a:r>
              <a:rPr lang="ru-RU" sz="1600" dirty="0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радіоелектроніки</a:t>
            </a:r>
            <a:endParaRPr lang="ru-RU" sz="1600" dirty="0">
              <a:solidFill>
                <a:srgbClr val="6B9CBF"/>
              </a:solidFill>
              <a:latin typeface="Times New Roman" panose="02020603050405020304" pitchFamily="18" charset="0"/>
              <a:ea typeface="Liter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Мета роботи</a:t>
            </a:r>
            <a:endParaRPr lang="en-US" sz="48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7620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с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творення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сучасної вебплатформи для </a:t>
            </a:r>
            <a:r>
              <a:rPr lang="en-US" sz="2000" b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автоматизації процесу технічних співбесід</a:t>
            </a:r>
            <a:endParaRPr lang="en-US" sz="2000" dirty="0">
              <a:ea typeface="Liter"/>
            </a:endParaRPr>
          </a:p>
          <a:p>
            <a:pPr algn="l">
              <a:lnSpc>
                <a:spcPct val="160000"/>
              </a:lnSpc>
              <a:spcBef>
                <a:spcPts val="2400"/>
              </a:spcBef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у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сунення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суб'єктивного фактору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при оцінюванні навичок програмування у кандидатів</a:t>
            </a:r>
            <a:endParaRPr lang="en-US" sz="2000" dirty="0">
              <a:ea typeface="Liter"/>
            </a:endParaRPr>
          </a:p>
          <a:p>
            <a:pPr algn="l">
              <a:lnSpc>
                <a:spcPct val="160000"/>
              </a:lnSpc>
              <a:spcBef>
                <a:spcPts val="2400"/>
              </a:spcBef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з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абезпечення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інструментів для виявлення </a:t>
            </a:r>
            <a:r>
              <a:rPr lang="en-US" sz="2000" b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недоброчесної поведінки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(списування) під час написання коду</a:t>
            </a:r>
            <a:endParaRPr lang="en-US" sz="2000" dirty="0">
              <a:ea typeface="Liter"/>
            </a:endParaRPr>
          </a:p>
          <a:p>
            <a:pPr algn="l">
              <a:lnSpc>
                <a:spcPct val="160000"/>
              </a:lnSpc>
              <a:spcBef>
                <a:spcPts val="2400"/>
              </a:spcBef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о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птимізація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часу HR-фахівців та технічних лідів шляхом залучення </a:t>
            </a:r>
            <a:r>
              <a:rPr lang="en-US" sz="2000" b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штучного інтелекту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до аналізу результатів</a:t>
            </a:r>
            <a:endParaRPr lang="en-US" sz="2000" dirty="0">
              <a:ea typeface="Liter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398000" y="2286000"/>
            <a:ext cx="5334000" cy="45720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  <a:effectLst>
            <a:outerShdw blurRad="152400" dist="508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602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3400" y="304800"/>
                </a:moveTo>
                <a:cubicBezTo>
                  <a:pt x="533400" y="178632"/>
                  <a:pt x="430968" y="76200"/>
                  <a:pt x="304800" y="76200"/>
                </a:cubicBezTo>
                <a:cubicBezTo>
                  <a:pt x="178632" y="76200"/>
                  <a:pt x="76200" y="178632"/>
                  <a:pt x="76200" y="304800"/>
                </a:cubicBezTo>
                <a:cubicBezTo>
                  <a:pt x="76200" y="430968"/>
                  <a:pt x="178632" y="533400"/>
                  <a:pt x="304800" y="533400"/>
                </a:cubicBezTo>
                <a:cubicBezTo>
                  <a:pt x="430968" y="533400"/>
                  <a:pt x="533400" y="430968"/>
                  <a:pt x="533400" y="304800"/>
                </a:cubicBezTo>
                <a:close/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  <a:moveTo>
                  <a:pt x="304800" y="400050"/>
                </a:moveTo>
                <a:cubicBezTo>
                  <a:pt x="357370" y="400050"/>
                  <a:pt x="400050" y="357370"/>
                  <a:pt x="400050" y="304800"/>
                </a:cubicBezTo>
                <a:cubicBezTo>
                  <a:pt x="400050" y="252230"/>
                  <a:pt x="357370" y="209550"/>
                  <a:pt x="304800" y="209550"/>
                </a:cubicBezTo>
                <a:cubicBezTo>
                  <a:pt x="252230" y="209550"/>
                  <a:pt x="209550" y="252230"/>
                  <a:pt x="209550" y="304800"/>
                </a:cubicBezTo>
                <a:cubicBezTo>
                  <a:pt x="209550" y="357370"/>
                  <a:pt x="252230" y="400050"/>
                  <a:pt x="304800" y="400050"/>
                </a:cubicBezTo>
                <a:close/>
                <a:moveTo>
                  <a:pt x="304800" y="133350"/>
                </a:moveTo>
                <a:cubicBezTo>
                  <a:pt x="399426" y="133350"/>
                  <a:pt x="476250" y="210174"/>
                  <a:pt x="476250" y="304800"/>
                </a:cubicBezTo>
                <a:cubicBezTo>
                  <a:pt x="476250" y="399426"/>
                  <a:pt x="399426" y="476250"/>
                  <a:pt x="304800" y="476250"/>
                </a:cubicBezTo>
                <a:cubicBezTo>
                  <a:pt x="210174" y="476250"/>
                  <a:pt x="133350" y="399426"/>
                  <a:pt x="133350" y="304800"/>
                </a:cubicBezTo>
                <a:cubicBezTo>
                  <a:pt x="133350" y="210174"/>
                  <a:pt x="210174" y="133350"/>
                  <a:pt x="304800" y="133350"/>
                </a:cubicBezTo>
                <a:close/>
                <a:moveTo>
                  <a:pt x="266700" y="304800"/>
                </a:moveTo>
                <a:cubicBezTo>
                  <a:pt x="266700" y="283772"/>
                  <a:pt x="283772" y="266700"/>
                  <a:pt x="304800" y="266700"/>
                </a:cubicBezTo>
                <a:cubicBezTo>
                  <a:pt x="325828" y="266700"/>
                  <a:pt x="342900" y="283772"/>
                  <a:pt x="342900" y="304800"/>
                </a:cubicBezTo>
                <a:cubicBezTo>
                  <a:pt x="342900" y="325828"/>
                  <a:pt x="325828" y="342900"/>
                  <a:pt x="304800" y="342900"/>
                </a:cubicBezTo>
                <a:cubicBezTo>
                  <a:pt x="283772" y="342900"/>
                  <a:pt x="266700" y="325828"/>
                  <a:pt x="266700" y="3048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0" y="3683000"/>
            <a:ext cx="431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Ключова мета</a:t>
            </a:r>
            <a:endParaRPr lang="en-US" sz="2400" dirty="0">
              <a:ea typeface="Liter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79000" y="43180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Автоматизація технічних співбесід з використанням AI для об'єктивного оцінювання кандидатів у режимі реального часу</a:t>
            </a:r>
            <a:endParaRPr lang="en-US" sz="18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Вихідні дані та вимоги</a:t>
            </a:r>
            <a:endParaRPr lang="en-US" sz="48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41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0684" y="5159"/>
                </a:moveTo>
                <a:cubicBezTo>
                  <a:pt x="245467" y="-1687"/>
                  <a:pt x="262533" y="-1687"/>
                  <a:pt x="277316" y="5159"/>
                </a:cubicBezTo>
                <a:lnTo>
                  <a:pt x="494209" y="105370"/>
                </a:lnTo>
                <a:cubicBezTo>
                  <a:pt x="502642" y="109240"/>
                  <a:pt x="508000" y="117673"/>
                  <a:pt x="508000" y="127000"/>
                </a:cubicBezTo>
                <a:cubicBezTo>
                  <a:pt x="508000" y="136327"/>
                  <a:pt x="502642" y="144760"/>
                  <a:pt x="494209" y="148630"/>
                </a:cubicBezTo>
                <a:lnTo>
                  <a:pt x="277316" y="248841"/>
                </a:lnTo>
                <a:cubicBezTo>
                  <a:pt x="262533" y="255687"/>
                  <a:pt x="245467" y="255687"/>
                  <a:pt x="230684" y="248841"/>
                </a:cubicBezTo>
                <a:lnTo>
                  <a:pt x="13791" y="148630"/>
                </a:lnTo>
                <a:cubicBezTo>
                  <a:pt x="5358" y="144661"/>
                  <a:pt x="0" y="136227"/>
                  <a:pt x="0" y="127000"/>
                </a:cubicBezTo>
                <a:cubicBezTo>
                  <a:pt x="0" y="117773"/>
                  <a:pt x="5358" y="109240"/>
                  <a:pt x="13791" y="105370"/>
                </a:cubicBezTo>
                <a:lnTo>
                  <a:pt x="230684" y="5159"/>
                </a:lnTo>
                <a:close/>
                <a:moveTo>
                  <a:pt x="47724" y="216694"/>
                </a:moveTo>
                <a:lnTo>
                  <a:pt x="210741" y="292001"/>
                </a:lnTo>
                <a:cubicBezTo>
                  <a:pt x="238224" y="304701"/>
                  <a:pt x="269875" y="304701"/>
                  <a:pt x="297359" y="292001"/>
                </a:cubicBezTo>
                <a:lnTo>
                  <a:pt x="460375" y="216694"/>
                </a:lnTo>
                <a:lnTo>
                  <a:pt x="494209" y="232370"/>
                </a:lnTo>
                <a:cubicBezTo>
                  <a:pt x="502642" y="236240"/>
                  <a:pt x="508000" y="244673"/>
                  <a:pt x="508000" y="254000"/>
                </a:cubicBezTo>
                <a:cubicBezTo>
                  <a:pt x="508000" y="263327"/>
                  <a:pt x="502642" y="271760"/>
                  <a:pt x="494209" y="275630"/>
                </a:cubicBezTo>
                <a:lnTo>
                  <a:pt x="277316" y="375841"/>
                </a:lnTo>
                <a:cubicBezTo>
                  <a:pt x="262533" y="382687"/>
                  <a:pt x="245467" y="382687"/>
                  <a:pt x="230684" y="375841"/>
                </a:cubicBezTo>
                <a:lnTo>
                  <a:pt x="13791" y="275630"/>
                </a:lnTo>
                <a:cubicBezTo>
                  <a:pt x="5358" y="271661"/>
                  <a:pt x="0" y="263227"/>
                  <a:pt x="0" y="254000"/>
                </a:cubicBezTo>
                <a:cubicBezTo>
                  <a:pt x="0" y="244773"/>
                  <a:pt x="5358" y="236240"/>
                  <a:pt x="13791" y="232370"/>
                </a:cubicBezTo>
                <a:lnTo>
                  <a:pt x="47625" y="216694"/>
                </a:lnTo>
                <a:close/>
                <a:moveTo>
                  <a:pt x="13791" y="359370"/>
                </a:moveTo>
                <a:lnTo>
                  <a:pt x="47625" y="343694"/>
                </a:lnTo>
                <a:lnTo>
                  <a:pt x="210641" y="419001"/>
                </a:lnTo>
                <a:cubicBezTo>
                  <a:pt x="238125" y="431701"/>
                  <a:pt x="269776" y="431701"/>
                  <a:pt x="297259" y="419001"/>
                </a:cubicBezTo>
                <a:lnTo>
                  <a:pt x="460276" y="343694"/>
                </a:lnTo>
                <a:lnTo>
                  <a:pt x="494109" y="359370"/>
                </a:lnTo>
                <a:cubicBezTo>
                  <a:pt x="502543" y="363240"/>
                  <a:pt x="507901" y="371673"/>
                  <a:pt x="507901" y="381000"/>
                </a:cubicBezTo>
                <a:cubicBezTo>
                  <a:pt x="507901" y="390327"/>
                  <a:pt x="502543" y="398760"/>
                  <a:pt x="494109" y="402630"/>
                </a:cubicBezTo>
                <a:lnTo>
                  <a:pt x="277217" y="502841"/>
                </a:lnTo>
                <a:cubicBezTo>
                  <a:pt x="262434" y="509687"/>
                  <a:pt x="245368" y="509687"/>
                  <a:pt x="230584" y="502841"/>
                </a:cubicBezTo>
                <a:lnTo>
                  <a:pt x="13791" y="402630"/>
                </a:lnTo>
                <a:cubicBezTo>
                  <a:pt x="5358" y="398661"/>
                  <a:pt x="0" y="390227"/>
                  <a:pt x="0" y="381000"/>
                </a:cubicBezTo>
                <a:cubicBezTo>
                  <a:pt x="0" y="371773"/>
                  <a:pt x="5358" y="363240"/>
                  <a:pt x="13791" y="35937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41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Комплексна платформа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3111500"/>
            <a:ext cx="584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Розробити клієнтський вебдодаток (Front-End) та 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серверну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частину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(Monaco) як єдину систему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382000" y="2032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41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9461500" y="241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Безпечне середовище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3111500"/>
            <a:ext cx="584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Створити ізольоване та безпечне середовище для виконання коду кандидатів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270000" y="5207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51000" y="558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349500" y="558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Система ШІ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51000" y="6286500"/>
            <a:ext cx="584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Інтегрувати багаторівневу систему штучного інтелекту для перевірки коду та поведінки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82000" y="5207000"/>
            <a:ext cx="6604000" cy="2794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63000" y="558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4175" y="-9823"/>
                </a:moveTo>
                <a:cubicBezTo>
                  <a:pt x="397669" y="-1290"/>
                  <a:pt x="402658" y="14188"/>
                  <a:pt x="396535" y="27682"/>
                </a:cubicBezTo>
                <a:lnTo>
                  <a:pt x="307635" y="222250"/>
                </a:lnTo>
                <a:lnTo>
                  <a:pt x="471714" y="222250"/>
                </a:lnTo>
                <a:cubicBezTo>
                  <a:pt x="487022" y="222250"/>
                  <a:pt x="500629" y="230584"/>
                  <a:pt x="505846" y="243185"/>
                </a:cubicBezTo>
                <a:cubicBezTo>
                  <a:pt x="511062" y="255786"/>
                  <a:pt x="506639" y="269875"/>
                  <a:pt x="494960" y="278408"/>
                </a:cubicBezTo>
                <a:lnTo>
                  <a:pt x="168388" y="516533"/>
                </a:lnTo>
                <a:cubicBezTo>
                  <a:pt x="155575" y="525859"/>
                  <a:pt x="137319" y="526355"/>
                  <a:pt x="123825" y="517823"/>
                </a:cubicBezTo>
                <a:cubicBezTo>
                  <a:pt x="110331" y="509290"/>
                  <a:pt x="105342" y="493812"/>
                  <a:pt x="111465" y="480318"/>
                </a:cubicBezTo>
                <a:lnTo>
                  <a:pt x="200365" y="285750"/>
                </a:lnTo>
                <a:lnTo>
                  <a:pt x="36286" y="285750"/>
                </a:lnTo>
                <a:cubicBezTo>
                  <a:pt x="20978" y="285750"/>
                  <a:pt x="7371" y="277416"/>
                  <a:pt x="2154" y="264815"/>
                </a:cubicBezTo>
                <a:cubicBezTo>
                  <a:pt x="-3062" y="252214"/>
                  <a:pt x="1361" y="238125"/>
                  <a:pt x="13040" y="229592"/>
                </a:cubicBezTo>
                <a:lnTo>
                  <a:pt x="339612" y="-8533"/>
                </a:lnTo>
                <a:cubicBezTo>
                  <a:pt x="352425" y="-17859"/>
                  <a:pt x="370681" y="-18355"/>
                  <a:pt x="384175" y="-982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461500" y="558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Real-Time Метрики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63000" y="6286500"/>
            <a:ext cx="584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Безперервний збір та передачу поведінкових метрик кандидатів у реальному часі через WebSocket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Постановка задачі</a:t>
            </a:r>
            <a:endParaRPr lang="en-US" sz="48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97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394920" y="295275"/>
                  <a:pt x="468086" y="231255"/>
                  <a:pt x="468086" y="152400"/>
                </a:cubicBezTo>
                <a:cubicBezTo>
                  <a:pt x="468086" y="73545"/>
                  <a:pt x="394920" y="9525"/>
                  <a:pt x="304800" y="9525"/>
                </a:cubicBezTo>
                <a:cubicBezTo>
                  <a:pt x="214680" y="9525"/>
                  <a:pt x="141514" y="73545"/>
                  <a:pt x="141514" y="152400"/>
                </a:cubicBezTo>
                <a:cubicBezTo>
                  <a:pt x="141514" y="231255"/>
                  <a:pt x="214680" y="295275"/>
                  <a:pt x="304800" y="295275"/>
                </a:cubicBezTo>
                <a:close/>
                <a:moveTo>
                  <a:pt x="264387" y="361950"/>
                </a:moveTo>
                <a:cubicBezTo>
                  <a:pt x="130356" y="361950"/>
                  <a:pt x="21771" y="456962"/>
                  <a:pt x="21771" y="574238"/>
                </a:cubicBezTo>
                <a:cubicBezTo>
                  <a:pt x="21771" y="593765"/>
                  <a:pt x="39869" y="609600"/>
                  <a:pt x="62185" y="609600"/>
                </a:cubicBezTo>
                <a:lnTo>
                  <a:pt x="547415" y="609600"/>
                </a:lnTo>
                <a:cubicBezTo>
                  <a:pt x="569731" y="609600"/>
                  <a:pt x="587829" y="593765"/>
                  <a:pt x="587829" y="574238"/>
                </a:cubicBezTo>
                <a:cubicBezTo>
                  <a:pt x="587829" y="456962"/>
                  <a:pt x="479244" y="361950"/>
                  <a:pt x="345213" y="361950"/>
                </a:cubicBezTo>
                <a:lnTo>
                  <a:pt x="264387" y="36195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Для кандидата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4064000"/>
            <a:ext cx="355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Забезпечити зручне середовище </a:t>
            </a: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(IDE)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в браузері: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-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н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аписання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коду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-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т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естування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рішень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-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в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ідправки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результатів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Без встановлення ПЗ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96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Для роботодавця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50000" y="4064000"/>
            <a:ext cx="355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Створити </a:t>
            </a: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дашборд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для: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-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м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оніторингу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процесу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с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творення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кімнат іспитів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о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тримання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детальної аналітики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6B9CBF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Повний контроль над співбесідами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6096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395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81847" y="1429"/>
                </a:moveTo>
                <a:cubicBezTo>
                  <a:pt x="363855" y="-4405"/>
                  <a:pt x="345123" y="7382"/>
                  <a:pt x="339937" y="27622"/>
                </a:cubicBezTo>
                <a:lnTo>
                  <a:pt x="204470" y="561023"/>
                </a:lnTo>
                <a:cubicBezTo>
                  <a:pt x="199284" y="581263"/>
                  <a:pt x="209762" y="602337"/>
                  <a:pt x="227753" y="608171"/>
                </a:cubicBezTo>
                <a:cubicBezTo>
                  <a:pt x="245745" y="614005"/>
                  <a:pt x="264478" y="602218"/>
                  <a:pt x="269663" y="581978"/>
                </a:cubicBezTo>
                <a:lnTo>
                  <a:pt x="405130" y="48578"/>
                </a:lnTo>
                <a:cubicBezTo>
                  <a:pt x="410316" y="28337"/>
                  <a:pt x="399838" y="7263"/>
                  <a:pt x="381847" y="1429"/>
                </a:cubicBezTo>
                <a:close/>
                <a:moveTo>
                  <a:pt x="450215" y="163473"/>
                </a:moveTo>
                <a:cubicBezTo>
                  <a:pt x="436986" y="178356"/>
                  <a:pt x="436986" y="202525"/>
                  <a:pt x="450215" y="217408"/>
                </a:cubicBezTo>
                <a:lnTo>
                  <a:pt x="527897" y="304800"/>
                </a:lnTo>
                <a:lnTo>
                  <a:pt x="450215" y="392192"/>
                </a:lnTo>
                <a:cubicBezTo>
                  <a:pt x="436986" y="407075"/>
                  <a:pt x="436986" y="431244"/>
                  <a:pt x="450215" y="446127"/>
                </a:cubicBezTo>
                <a:cubicBezTo>
                  <a:pt x="463444" y="461010"/>
                  <a:pt x="484928" y="461010"/>
                  <a:pt x="498157" y="446127"/>
                </a:cubicBezTo>
                <a:lnTo>
                  <a:pt x="599758" y="331827"/>
                </a:lnTo>
                <a:cubicBezTo>
                  <a:pt x="612987" y="316944"/>
                  <a:pt x="612987" y="292775"/>
                  <a:pt x="599758" y="277892"/>
                </a:cubicBezTo>
                <a:lnTo>
                  <a:pt x="498158" y="163592"/>
                </a:lnTo>
                <a:cubicBezTo>
                  <a:pt x="484928" y="148709"/>
                  <a:pt x="463444" y="148709"/>
                  <a:pt x="450215" y="163592"/>
                </a:cubicBezTo>
                <a:close/>
                <a:moveTo>
                  <a:pt x="159491" y="163473"/>
                </a:moveTo>
                <a:cubicBezTo>
                  <a:pt x="146262" y="148590"/>
                  <a:pt x="124777" y="148590"/>
                  <a:pt x="111548" y="163473"/>
                </a:cubicBezTo>
                <a:lnTo>
                  <a:pt x="9948" y="277773"/>
                </a:lnTo>
                <a:cubicBezTo>
                  <a:pt x="-3281" y="292656"/>
                  <a:pt x="-3281" y="316825"/>
                  <a:pt x="9948" y="331708"/>
                </a:cubicBezTo>
                <a:lnTo>
                  <a:pt x="111548" y="446008"/>
                </a:lnTo>
                <a:cubicBezTo>
                  <a:pt x="124777" y="460891"/>
                  <a:pt x="146262" y="460891"/>
                  <a:pt x="159491" y="446008"/>
                </a:cubicBezTo>
                <a:cubicBezTo>
                  <a:pt x="172720" y="431125"/>
                  <a:pt x="172720" y="406956"/>
                  <a:pt x="159491" y="392073"/>
                </a:cubicBezTo>
                <a:lnTo>
                  <a:pt x="81809" y="304800"/>
                </a:lnTo>
                <a:lnTo>
                  <a:pt x="159385" y="217408"/>
                </a:lnTo>
                <a:cubicBezTo>
                  <a:pt x="172614" y="202525"/>
                  <a:pt x="172614" y="178356"/>
                  <a:pt x="159385" y="1634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Технічні виклики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049000" y="4064000"/>
            <a:ext cx="355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Захист від AI</a:t>
            </a:r>
            <a:endParaRPr lang="en-US" sz="1800" dirty="0"/>
          </a:p>
          <a:p>
            <a:pPr algn="l"/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Запобігання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ChatGPT/Google</a:t>
            </a:r>
          </a:p>
          <a:p>
            <a:pPr algn="l">
              <a:lnSpc>
                <a:spcPct val="160000"/>
              </a:lnSpc>
            </a:pPr>
            <a:endParaRPr lang="en-US" sz="1800" dirty="0"/>
          </a:p>
          <a:p>
            <a:pPr algn="l"/>
            <a:r>
              <a:rPr lang="en-US" sz="1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Безпека</a:t>
            </a:r>
            <a:endParaRPr lang="en-US" b="1" dirty="0"/>
          </a:p>
          <a:p>
            <a:pPr algn="l"/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Безпечний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запуск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коду</a:t>
            </a:r>
            <a:endParaRPr lang="en-US" sz="1800" dirty="0">
              <a:solidFill>
                <a:srgbClr val="FFFFFF"/>
              </a:solidFill>
              <a:latin typeface="Times New Roman" panose="02020603050405020304" pitchFamily="18" charset="0"/>
              <a:ea typeface="MiSans" pitchFamily="34" charset="-122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</a:pPr>
            <a:endParaRPr lang="en-US" sz="1800" dirty="0"/>
          </a:p>
          <a:p>
            <a:pPr algn="l"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Якість</a:t>
            </a:r>
            <a:endParaRPr lang="en-US" sz="1800" dirty="0"/>
          </a:p>
          <a:p>
            <a:pPr algn="l"/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Швидкодія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, UI/UX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Аналіз</a:t>
            </a:r>
            <a:r>
              <a:rPr lang="en-US" sz="4800" b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предметної</a:t>
            </a:r>
            <a:r>
              <a:rPr lang="en-US" sz="4800" b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галузі</a:t>
            </a:r>
            <a:endParaRPr lang="en-US" sz="48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97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22302" y="0"/>
                  <a:pt x="338376" y="9644"/>
                  <a:pt x="346710" y="25003"/>
                </a:cubicBezTo>
                <a:lnTo>
                  <a:pt x="603885" y="501253"/>
                </a:lnTo>
                <a:cubicBezTo>
                  <a:pt x="611862" y="516017"/>
                  <a:pt x="611505" y="533876"/>
                  <a:pt x="602933" y="548283"/>
                </a:cubicBezTo>
                <a:cubicBezTo>
                  <a:pt x="594360" y="562689"/>
                  <a:pt x="578763" y="571500"/>
                  <a:pt x="561975" y="571500"/>
                </a:cubicBezTo>
                <a:lnTo>
                  <a:pt x="47625" y="571500"/>
                </a:lnTo>
                <a:cubicBezTo>
                  <a:pt x="30837" y="571500"/>
                  <a:pt x="15359" y="562689"/>
                  <a:pt x="6668" y="548283"/>
                </a:cubicBezTo>
                <a:cubicBezTo>
                  <a:pt x="-2024" y="533876"/>
                  <a:pt x="-2262" y="516017"/>
                  <a:pt x="5715" y="501253"/>
                </a:cubicBezTo>
                <a:lnTo>
                  <a:pt x="262890" y="25003"/>
                </a:lnTo>
                <a:cubicBezTo>
                  <a:pt x="271224" y="9644"/>
                  <a:pt x="287298" y="0"/>
                  <a:pt x="304800" y="0"/>
                </a:cubicBezTo>
                <a:close/>
                <a:moveTo>
                  <a:pt x="304800" y="200025"/>
                </a:moveTo>
                <a:cubicBezTo>
                  <a:pt x="288965" y="200025"/>
                  <a:pt x="276225" y="212765"/>
                  <a:pt x="276225" y="228600"/>
                </a:cubicBezTo>
                <a:lnTo>
                  <a:pt x="276225" y="361950"/>
                </a:lnTo>
                <a:cubicBezTo>
                  <a:pt x="276225" y="377785"/>
                  <a:pt x="288965" y="390525"/>
                  <a:pt x="304800" y="390525"/>
                </a:cubicBezTo>
                <a:cubicBezTo>
                  <a:pt x="320635" y="390525"/>
                  <a:pt x="333375" y="377785"/>
                  <a:pt x="333375" y="361950"/>
                </a:cubicBezTo>
                <a:lnTo>
                  <a:pt x="333375" y="228600"/>
                </a:lnTo>
                <a:cubicBezTo>
                  <a:pt x="333375" y="212765"/>
                  <a:pt x="320635" y="200025"/>
                  <a:pt x="304800" y="200025"/>
                </a:cubicBezTo>
                <a:close/>
                <a:moveTo>
                  <a:pt x="336590" y="457200"/>
                </a:moveTo>
                <a:cubicBezTo>
                  <a:pt x="337313" y="445400"/>
                  <a:pt x="331428" y="434173"/>
                  <a:pt x="321313" y="428055"/>
                </a:cubicBezTo>
                <a:cubicBezTo>
                  <a:pt x="311197" y="421936"/>
                  <a:pt x="298522" y="421936"/>
                  <a:pt x="288406" y="428055"/>
                </a:cubicBezTo>
                <a:cubicBezTo>
                  <a:pt x="278291" y="434173"/>
                  <a:pt x="272406" y="445400"/>
                  <a:pt x="273129" y="457200"/>
                </a:cubicBezTo>
                <a:cubicBezTo>
                  <a:pt x="272406" y="469000"/>
                  <a:pt x="278291" y="480227"/>
                  <a:pt x="288406" y="486345"/>
                </a:cubicBezTo>
                <a:cubicBezTo>
                  <a:pt x="298522" y="492464"/>
                  <a:pt x="311197" y="492464"/>
                  <a:pt x="321313" y="486345"/>
                </a:cubicBezTo>
                <a:cubicBezTo>
                  <a:pt x="331428" y="480227"/>
                  <a:pt x="337313" y="469000"/>
                  <a:pt x="336590" y="4572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Проблематика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4064000"/>
            <a:ext cx="355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Традиційні технічні співбесіди займають </a:t>
            </a: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багато часу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розробників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с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трес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для кандидатів (ефект "live coding")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LeetCode, HackerRank </a:t>
            </a:r>
            <a:r>
              <a:rPr lang="en-US" sz="2000" b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не захищають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від AI-підказок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96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18395" y="-31432"/>
                </a:moveTo>
                <a:cubicBezTo>
                  <a:pt x="231049" y="-40719"/>
                  <a:pt x="249691" y="-40362"/>
                  <a:pt x="261801" y="-30361"/>
                </a:cubicBezTo>
                <a:cubicBezTo>
                  <a:pt x="278538" y="-16550"/>
                  <a:pt x="293506" y="-1310"/>
                  <a:pt x="307930" y="14168"/>
                </a:cubicBezTo>
                <a:cubicBezTo>
                  <a:pt x="326299" y="33814"/>
                  <a:pt x="348343" y="59769"/>
                  <a:pt x="369570" y="90607"/>
                </a:cubicBezTo>
                <a:cubicBezTo>
                  <a:pt x="376646" y="82510"/>
                  <a:pt x="383177" y="75367"/>
                  <a:pt x="388892" y="69294"/>
                </a:cubicBezTo>
                <a:cubicBezTo>
                  <a:pt x="390389" y="67747"/>
                  <a:pt x="391886" y="66080"/>
                  <a:pt x="393383" y="64413"/>
                </a:cubicBezTo>
                <a:cubicBezTo>
                  <a:pt x="404132" y="52745"/>
                  <a:pt x="417467" y="38100"/>
                  <a:pt x="435293" y="38100"/>
                </a:cubicBezTo>
                <a:cubicBezTo>
                  <a:pt x="453526" y="38100"/>
                  <a:pt x="466317" y="52268"/>
                  <a:pt x="477203" y="64413"/>
                </a:cubicBezTo>
                <a:cubicBezTo>
                  <a:pt x="478971" y="66437"/>
                  <a:pt x="480740" y="68342"/>
                  <a:pt x="482509" y="70128"/>
                </a:cubicBezTo>
                <a:cubicBezTo>
                  <a:pt x="496525" y="84892"/>
                  <a:pt x="515166" y="106204"/>
                  <a:pt x="533808" y="132517"/>
                </a:cubicBezTo>
                <a:cubicBezTo>
                  <a:pt x="570820" y="184785"/>
                  <a:pt x="609464" y="259199"/>
                  <a:pt x="609464" y="342781"/>
                </a:cubicBezTo>
                <a:cubicBezTo>
                  <a:pt x="609464" y="490061"/>
                  <a:pt x="472984" y="609481"/>
                  <a:pt x="304664" y="609481"/>
                </a:cubicBezTo>
                <a:cubicBezTo>
                  <a:pt x="136344" y="609481"/>
                  <a:pt x="0" y="490180"/>
                  <a:pt x="0" y="342900"/>
                </a:cubicBezTo>
                <a:cubicBezTo>
                  <a:pt x="0" y="234434"/>
                  <a:pt x="55925" y="140494"/>
                  <a:pt x="109537" y="75009"/>
                </a:cubicBezTo>
                <a:cubicBezTo>
                  <a:pt x="136616" y="42029"/>
                  <a:pt x="163558" y="15597"/>
                  <a:pt x="183832" y="-2500"/>
                </a:cubicBezTo>
                <a:cubicBezTo>
                  <a:pt x="194990" y="-12502"/>
                  <a:pt x="206284" y="-22384"/>
                  <a:pt x="218531" y="-31313"/>
                </a:cubicBezTo>
                <a:close/>
                <a:moveTo>
                  <a:pt x="307113" y="495300"/>
                </a:moveTo>
                <a:cubicBezTo>
                  <a:pt x="341539" y="495300"/>
                  <a:pt x="372019" y="486966"/>
                  <a:pt x="400730" y="470297"/>
                </a:cubicBezTo>
                <a:cubicBezTo>
                  <a:pt x="458016" y="435293"/>
                  <a:pt x="473392" y="365284"/>
                  <a:pt x="438966" y="310277"/>
                </a:cubicBezTo>
                <a:cubicBezTo>
                  <a:pt x="432843" y="299561"/>
                  <a:pt x="417195" y="298847"/>
                  <a:pt x="408350" y="307896"/>
                </a:cubicBezTo>
                <a:lnTo>
                  <a:pt x="374060" y="342781"/>
                </a:lnTo>
                <a:cubicBezTo>
                  <a:pt x="365080" y="351830"/>
                  <a:pt x="348887" y="351592"/>
                  <a:pt x="340451" y="342186"/>
                </a:cubicBezTo>
                <a:cubicBezTo>
                  <a:pt x="316910" y="315873"/>
                  <a:pt x="273640" y="267891"/>
                  <a:pt x="251596" y="243364"/>
                </a:cubicBezTo>
                <a:cubicBezTo>
                  <a:pt x="244248" y="235148"/>
                  <a:pt x="230913" y="233839"/>
                  <a:pt x="222341" y="241102"/>
                </a:cubicBezTo>
                <a:cubicBezTo>
                  <a:pt x="197440" y="262295"/>
                  <a:pt x="152264" y="308729"/>
                  <a:pt x="152264" y="365284"/>
                </a:cubicBezTo>
                <a:cubicBezTo>
                  <a:pt x="152264" y="446961"/>
                  <a:pt x="221116" y="495300"/>
                  <a:pt x="306977" y="4953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Актуальність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50000" y="4064000"/>
            <a:ext cx="355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Ринок потребує систем, які аналізують </a:t>
            </a: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як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написано код: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ш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видкість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написання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п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еремикання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вкладок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п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атерни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вставок коду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6096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395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64979" y="457200"/>
                </a:moveTo>
                <a:cubicBezTo>
                  <a:pt x="476568" y="430649"/>
                  <a:pt x="499745" y="406598"/>
                  <a:pt x="525939" y="385882"/>
                </a:cubicBezTo>
                <a:cubicBezTo>
                  <a:pt x="577850" y="344924"/>
                  <a:pt x="609600" y="289560"/>
                  <a:pt x="609600" y="228600"/>
                </a:cubicBezTo>
                <a:cubicBezTo>
                  <a:pt x="609600" y="102394"/>
                  <a:pt x="473075" y="0"/>
                  <a:pt x="304800" y="0"/>
                </a:cubicBezTo>
                <a:cubicBezTo>
                  <a:pt x="136525" y="0"/>
                  <a:pt x="0" y="102394"/>
                  <a:pt x="0" y="228600"/>
                </a:cubicBezTo>
                <a:cubicBezTo>
                  <a:pt x="0" y="289560"/>
                  <a:pt x="31750" y="344924"/>
                  <a:pt x="83661" y="385882"/>
                </a:cubicBezTo>
                <a:cubicBezTo>
                  <a:pt x="109855" y="406598"/>
                  <a:pt x="133191" y="430649"/>
                  <a:pt x="144621" y="457200"/>
                </a:cubicBezTo>
                <a:lnTo>
                  <a:pt x="464820" y="457200"/>
                </a:lnTo>
                <a:close/>
                <a:moveTo>
                  <a:pt x="457200" y="514350"/>
                </a:moveTo>
                <a:lnTo>
                  <a:pt x="152400" y="514350"/>
                </a:lnTo>
                <a:lnTo>
                  <a:pt x="152400" y="533400"/>
                </a:lnTo>
                <a:cubicBezTo>
                  <a:pt x="152400" y="586026"/>
                  <a:pt x="209233" y="628650"/>
                  <a:pt x="279400" y="628650"/>
                </a:cubicBezTo>
                <a:lnTo>
                  <a:pt x="330200" y="628650"/>
                </a:lnTo>
                <a:cubicBezTo>
                  <a:pt x="400368" y="628650"/>
                  <a:pt x="457200" y="586026"/>
                  <a:pt x="457200" y="533400"/>
                </a:cubicBezTo>
                <a:lnTo>
                  <a:pt x="457200" y="514350"/>
                </a:lnTo>
                <a:close/>
                <a:moveTo>
                  <a:pt x="292100" y="133350"/>
                </a:moveTo>
                <a:cubicBezTo>
                  <a:pt x="228918" y="133350"/>
                  <a:pt x="177800" y="171688"/>
                  <a:pt x="177800" y="219075"/>
                </a:cubicBezTo>
                <a:cubicBezTo>
                  <a:pt x="177800" y="234910"/>
                  <a:pt x="160814" y="247650"/>
                  <a:pt x="139700" y="247650"/>
                </a:cubicBezTo>
                <a:cubicBezTo>
                  <a:pt x="118586" y="247650"/>
                  <a:pt x="101600" y="234910"/>
                  <a:pt x="101600" y="219075"/>
                </a:cubicBezTo>
                <a:cubicBezTo>
                  <a:pt x="101600" y="140137"/>
                  <a:pt x="186849" y="76200"/>
                  <a:pt x="292100" y="76200"/>
                </a:cubicBezTo>
                <a:cubicBezTo>
                  <a:pt x="313214" y="76200"/>
                  <a:pt x="330200" y="88940"/>
                  <a:pt x="330200" y="104775"/>
                </a:cubicBezTo>
                <a:cubicBezTo>
                  <a:pt x="330200" y="120610"/>
                  <a:pt x="313214" y="133350"/>
                  <a:pt x="292100" y="1333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Рішення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049000" y="4064000"/>
            <a:ext cx="355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Інтеграція </a:t>
            </a: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LLM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(Large Language Models) та нейромереж для комплексної оцінки: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1200"/>
              </a:spcBef>
            </a:pP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uk-UA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я</a:t>
            </a:r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кості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результату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</a:t>
            </a:r>
            <a:r>
              <a:rPr lang="uk-UA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п</a:t>
            </a:r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роцесу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роботи кандидата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Інтеграція браузерного IDE (Monaco Editor)</a:t>
            </a:r>
            <a:endParaRPr lang="en-US" sz="36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477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Рішення: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Рушій VS Code (@monaco-editor/react) в браузері</a:t>
            </a:r>
            <a:endParaRPr lang="en-US" sz="2000" dirty="0">
              <a:latin typeface="Times New Roman" panose="02020603050405020304" pitchFamily="18" charset="0"/>
            </a:endParaRPr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Функціонал:</a:t>
            </a:r>
            <a:endParaRPr lang="en-US" sz="2000" dirty="0">
              <a:latin typeface="Times New Roman" panose="02020603050405020304" pitchFamily="18" charset="0"/>
            </a:endParaRPr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ідсвітка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синтаксису</a:t>
            </a:r>
            <a:endParaRPr lang="en-US" sz="2000" dirty="0">
              <a:latin typeface="Times New Roman" panose="02020603050405020304" pitchFamily="18" charset="0"/>
            </a:endParaRPr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втодоповнення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мінімапа</a:t>
            </a:r>
            <a:endParaRPr lang="en-US" sz="2000" dirty="0">
              <a:latin typeface="Times New Roman" panose="02020603050405020304" pitchFamily="18" charset="0"/>
            </a:endParaRPr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Контроль стану: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Код з інстансу редактора — уникнення Stale State</a:t>
            </a:r>
            <a:endParaRPr 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001000" y="1841500"/>
            <a:ext cx="6985000" cy="3810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55000" y="19304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9CB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TSX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55000" y="2260600"/>
            <a:ext cx="6477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&lt;Editor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height=</a:t>
            </a:r>
            <a:r>
              <a:rPr lang="en-US" sz="1400" dirty="0">
                <a:solidFill>
                  <a:srgbClr val="98C379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"100%"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theme=</a:t>
            </a:r>
            <a:r>
              <a:rPr lang="en-US" sz="1400" dirty="0">
                <a:solidFill>
                  <a:srgbClr val="98C379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"vs-dark"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language={task.language.toLowerCase()}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value={code}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onMount={(editor) =&gt; 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editorRef.current = editor;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window.monacoEditor = editor;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}}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options={{ minimap: { enabled: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false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}, fontSize: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14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}}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/&gt;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70000" y="6096000"/>
            <a:ext cx="13716000" cy="50800"/>
          </a:xfrm>
          <a:prstGeom prst="rect">
            <a:avLst/>
          </a:prstGeom>
          <a:gradFill flip="none" rotWithShape="1">
            <a:gsLst>
              <a:gs pos="0">
                <a:srgbClr val="2E5E8A"/>
              </a:gs>
              <a:gs pos="50000">
                <a:srgbClr val="FF7F50"/>
              </a:gs>
              <a:gs pos="100000">
                <a:srgbClr val="2E5E8A"/>
              </a:gs>
            </a:gsLst>
            <a:lin ang="0" scaled="1"/>
          </a:gradFill>
          <a:ln/>
        </p:spPr>
      </p:sp>
      <p:sp>
        <p:nvSpPr>
          <p:cNvPr id="9" name="Text 7"/>
          <p:cNvSpPr/>
          <p:nvPr/>
        </p:nvSpPr>
        <p:spPr>
          <a:xfrm>
            <a:off x="1270000" y="6350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Повноцінний досвід VS Code прямо в </a:t>
            </a:r>
            <a:r>
              <a:rPr lang="en-US" sz="18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браузері</a:t>
            </a: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кандидата</a:t>
            </a:r>
            <a:endParaRPr lang="en-US" sz="1800" dirty="0">
              <a:ea typeface="Liter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Трекінг поведінки через WebSocket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731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Завдання: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Виявлення підозрілої активності без затримки UI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Рішення: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Socket.io + Native DOM події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Відстежується: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еремикання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вкладок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opy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/paste події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ч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ас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кодування, тести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93369" y="1887904"/>
            <a:ext cx="6985000" cy="3810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47369" y="1976804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9CB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TSX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47369" y="2307004"/>
            <a:ext cx="6477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678DD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handleVisibility = () =&gt; 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C678DD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if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(document.hidden) 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metricsCache.current.push(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{ type: </a:t>
            </a:r>
            <a:r>
              <a:rPr lang="en-US" sz="1400" dirty="0">
                <a:solidFill>
                  <a:srgbClr val="98C379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'tab_switch'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timestamp: </a:t>
            </a:r>
            <a:r>
              <a:rPr lang="en-US" sz="1400" dirty="0">
                <a:solidFill>
                  <a:srgbClr val="E5C07B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new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Date() });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socketRef.current?.emit(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</a:t>
            </a:r>
            <a:r>
              <a:rPr lang="en-US" sz="1400" dirty="0">
                <a:solidFill>
                  <a:srgbClr val="98C379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'candidateActivity'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  { status: </a:t>
            </a:r>
            <a:r>
              <a:rPr lang="en-US" sz="1400" dirty="0">
                <a:solidFill>
                  <a:srgbClr val="98C379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'TAB_SWITCHED'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});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}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};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document.addEventListener(</a:t>
            </a:r>
            <a:r>
              <a:rPr lang="en-US" sz="1400" dirty="0">
                <a:solidFill>
                  <a:srgbClr val="98C379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'visibilitychange'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handleVisibility);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70000" y="6350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Метрики передаються на сервер </a:t>
            </a:r>
            <a:r>
              <a:rPr lang="en-US" sz="18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у реальному часі</a:t>
            </a: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через WebSocket-з'єднання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Ізольоване виконання коду (Docker)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35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Загроза: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Ризик </a:t>
            </a:r>
            <a:r>
              <a:rPr lang="en-US" sz="2000" b="1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RCE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(Remote Code Execution)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Рішення: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Ефемерні Docker-контейнери: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node:18-alpine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python:3.9-slim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Обмеження: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RAM: 512 MB, CPU: 0.5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т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аймаут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: 15 с, --rm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001000" y="1841500"/>
            <a:ext cx="6985000" cy="3810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55000" y="19304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9CB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TypeScript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55000" y="2260600"/>
            <a:ext cx="6477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678DD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command = </a:t>
            </a:r>
            <a:r>
              <a:rPr lang="en-US" sz="1400" dirty="0">
                <a:solidFill>
                  <a:srgbClr val="98C379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`docker run --rm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8C379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-v "${tempDir}:/app" -w /app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8C379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--memory="512m" --cpus="0.5"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8C379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${dockerImage} sh -c "${runCommand}"`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;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C678DD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{ stdout, stderr } =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C678DD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await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execPromise(command, 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timeout: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15000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});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70000" y="6350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Кожен запуск коду відбувається в </a:t>
            </a:r>
            <a:r>
              <a:rPr lang="en-US" sz="18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ізольованому контейнері</a:t>
            </a: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з жорсткими лімітами ресурсів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Автоматизована перевірка коду за допомогою LLM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Інтеграція </a:t>
            </a:r>
            <a:r>
              <a:rPr lang="en-US" sz="18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Anthropic API</a:t>
            </a: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(Claude 3.5 Sonnet / Opus 4.8) зі строго типізованим промптом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3175000" cy="254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527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76200"/>
                </a:moveTo>
                <a:cubicBezTo>
                  <a:pt x="0" y="34171"/>
                  <a:pt x="45561" y="0"/>
                  <a:pt x="101600" y="0"/>
                </a:cubicBezTo>
                <a:lnTo>
                  <a:pt x="338931" y="0"/>
                </a:lnTo>
                <a:cubicBezTo>
                  <a:pt x="365919" y="0"/>
                  <a:pt x="391795" y="7977"/>
                  <a:pt x="410845" y="22265"/>
                </a:cubicBezTo>
                <a:lnTo>
                  <a:pt x="579914" y="149185"/>
                </a:lnTo>
                <a:cubicBezTo>
                  <a:pt x="598964" y="163473"/>
                  <a:pt x="609600" y="182880"/>
                  <a:pt x="609600" y="203121"/>
                </a:cubicBezTo>
                <a:lnTo>
                  <a:pt x="609600" y="533400"/>
                </a:lnTo>
                <a:cubicBezTo>
                  <a:pt x="609600" y="575429"/>
                  <a:pt x="564039" y="609600"/>
                  <a:pt x="508000" y="609600"/>
                </a:cubicBezTo>
                <a:lnTo>
                  <a:pt x="101600" y="609600"/>
                </a:lnTo>
                <a:cubicBezTo>
                  <a:pt x="45561" y="609600"/>
                  <a:pt x="0" y="575429"/>
                  <a:pt x="0" y="533400"/>
                </a:cubicBezTo>
                <a:lnTo>
                  <a:pt x="0" y="76200"/>
                </a:lnTo>
                <a:close/>
                <a:moveTo>
                  <a:pt x="330200" y="69652"/>
                </a:moveTo>
                <a:lnTo>
                  <a:pt x="330200" y="180975"/>
                </a:lnTo>
                <a:cubicBezTo>
                  <a:pt x="330200" y="196810"/>
                  <a:pt x="347186" y="209550"/>
                  <a:pt x="368300" y="209550"/>
                </a:cubicBezTo>
                <a:lnTo>
                  <a:pt x="516731" y="209550"/>
                </a:lnTo>
                <a:lnTo>
                  <a:pt x="330200" y="69652"/>
                </a:lnTo>
                <a:close/>
                <a:moveTo>
                  <a:pt x="244793" y="351949"/>
                </a:moveTo>
                <a:cubicBezTo>
                  <a:pt x="258445" y="339923"/>
                  <a:pt x="256699" y="321945"/>
                  <a:pt x="240665" y="311706"/>
                </a:cubicBezTo>
                <a:cubicBezTo>
                  <a:pt x="224631" y="301466"/>
                  <a:pt x="200660" y="302776"/>
                  <a:pt x="187008" y="314801"/>
                </a:cubicBezTo>
                <a:lnTo>
                  <a:pt x="110808" y="381476"/>
                </a:lnTo>
                <a:cubicBezTo>
                  <a:pt x="98584" y="392192"/>
                  <a:pt x="98584" y="407908"/>
                  <a:pt x="110808" y="418624"/>
                </a:cubicBezTo>
                <a:lnTo>
                  <a:pt x="187008" y="485299"/>
                </a:lnTo>
                <a:cubicBezTo>
                  <a:pt x="200660" y="497324"/>
                  <a:pt x="224790" y="498634"/>
                  <a:pt x="240665" y="488394"/>
                </a:cubicBezTo>
                <a:cubicBezTo>
                  <a:pt x="256540" y="478155"/>
                  <a:pt x="258445" y="460058"/>
                  <a:pt x="244793" y="448151"/>
                </a:cubicBezTo>
                <a:lnTo>
                  <a:pt x="189865" y="400050"/>
                </a:lnTo>
                <a:lnTo>
                  <a:pt x="244793" y="351949"/>
                </a:lnTo>
                <a:close/>
                <a:moveTo>
                  <a:pt x="422592" y="314801"/>
                </a:moveTo>
                <a:cubicBezTo>
                  <a:pt x="408940" y="302776"/>
                  <a:pt x="384810" y="301466"/>
                  <a:pt x="368935" y="311706"/>
                </a:cubicBezTo>
                <a:cubicBezTo>
                  <a:pt x="353060" y="321945"/>
                  <a:pt x="351155" y="340043"/>
                  <a:pt x="364808" y="351949"/>
                </a:cubicBezTo>
                <a:lnTo>
                  <a:pt x="419735" y="400050"/>
                </a:lnTo>
                <a:lnTo>
                  <a:pt x="364808" y="448151"/>
                </a:lnTo>
                <a:cubicBezTo>
                  <a:pt x="351155" y="460177"/>
                  <a:pt x="352901" y="478155"/>
                  <a:pt x="368935" y="488394"/>
                </a:cubicBezTo>
                <a:cubicBezTo>
                  <a:pt x="384969" y="498634"/>
                  <a:pt x="408940" y="497324"/>
                  <a:pt x="422592" y="485299"/>
                </a:cubicBezTo>
                <a:lnTo>
                  <a:pt x="498793" y="418624"/>
                </a:lnTo>
                <a:cubicBezTo>
                  <a:pt x="511016" y="407908"/>
                  <a:pt x="511016" y="392192"/>
                  <a:pt x="498793" y="381476"/>
                </a:cubicBezTo>
                <a:lnTo>
                  <a:pt x="422592" y="314801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35560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JSON Відповідь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0500" y="4064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Виключно структурована відповідь у форматі JSON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6000" y="2540000"/>
            <a:ext cx="3175000" cy="254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087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27554" y="-22503"/>
                </a:moveTo>
                <a:cubicBezTo>
                  <a:pt x="323215" y="-32028"/>
                  <a:pt x="314431" y="-38100"/>
                  <a:pt x="304906" y="-38100"/>
                </a:cubicBezTo>
                <a:cubicBezTo>
                  <a:pt x="295381" y="-38100"/>
                  <a:pt x="286597" y="-32028"/>
                  <a:pt x="282258" y="-22503"/>
                </a:cubicBezTo>
                <a:lnTo>
                  <a:pt x="204364" y="149185"/>
                </a:lnTo>
                <a:lnTo>
                  <a:pt x="35137" y="179427"/>
                </a:lnTo>
                <a:cubicBezTo>
                  <a:pt x="25718" y="181094"/>
                  <a:pt x="17886" y="188595"/>
                  <a:pt x="14923" y="198834"/>
                </a:cubicBezTo>
                <a:cubicBezTo>
                  <a:pt x="11959" y="209074"/>
                  <a:pt x="14393" y="220266"/>
                  <a:pt x="21061" y="227886"/>
                </a:cubicBezTo>
                <a:lnTo>
                  <a:pt x="142134" y="364212"/>
                </a:lnTo>
                <a:lnTo>
                  <a:pt x="115464" y="554593"/>
                </a:lnTo>
                <a:cubicBezTo>
                  <a:pt x="113983" y="565190"/>
                  <a:pt x="117898" y="575905"/>
                  <a:pt x="125624" y="582216"/>
                </a:cubicBezTo>
                <a:cubicBezTo>
                  <a:pt x="133350" y="588526"/>
                  <a:pt x="143510" y="589478"/>
                  <a:pt x="152082" y="584597"/>
                </a:cubicBezTo>
                <a:lnTo>
                  <a:pt x="304906" y="497205"/>
                </a:lnTo>
                <a:lnTo>
                  <a:pt x="457623" y="584597"/>
                </a:lnTo>
                <a:cubicBezTo>
                  <a:pt x="466090" y="589478"/>
                  <a:pt x="476356" y="588526"/>
                  <a:pt x="484082" y="582216"/>
                </a:cubicBezTo>
                <a:cubicBezTo>
                  <a:pt x="491807" y="575905"/>
                  <a:pt x="495723" y="565309"/>
                  <a:pt x="494242" y="554593"/>
                </a:cubicBezTo>
                <a:lnTo>
                  <a:pt x="467466" y="364212"/>
                </a:lnTo>
                <a:lnTo>
                  <a:pt x="588539" y="227886"/>
                </a:lnTo>
                <a:cubicBezTo>
                  <a:pt x="595313" y="220266"/>
                  <a:pt x="597641" y="209074"/>
                  <a:pt x="594678" y="198834"/>
                </a:cubicBezTo>
                <a:cubicBezTo>
                  <a:pt x="591714" y="188595"/>
                  <a:pt x="583988" y="181094"/>
                  <a:pt x="574463" y="179427"/>
                </a:cubicBezTo>
                <a:lnTo>
                  <a:pt x="405342" y="149185"/>
                </a:lnTo>
                <a:lnTo>
                  <a:pt x="327554" y="-2250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5080000" y="35560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Оцінка 0-10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16500" y="4064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Об'єктивна оцінка за 10-бальною шкалою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2540000"/>
            <a:ext cx="3175000" cy="254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647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4347" y="38100"/>
                </a:moveTo>
                <a:lnTo>
                  <a:pt x="508000" y="38100"/>
                </a:lnTo>
                <a:cubicBezTo>
                  <a:pt x="564039" y="38100"/>
                  <a:pt x="609600" y="72271"/>
                  <a:pt x="609600" y="114300"/>
                </a:cubicBezTo>
                <a:lnTo>
                  <a:pt x="609600" y="533400"/>
                </a:lnTo>
                <a:cubicBezTo>
                  <a:pt x="609600" y="575429"/>
                  <a:pt x="564039" y="609600"/>
                  <a:pt x="508000" y="609600"/>
                </a:cubicBezTo>
                <a:lnTo>
                  <a:pt x="101600" y="609600"/>
                </a:lnTo>
                <a:cubicBezTo>
                  <a:pt x="45561" y="609600"/>
                  <a:pt x="0" y="575429"/>
                  <a:pt x="0" y="533400"/>
                </a:cubicBezTo>
                <a:lnTo>
                  <a:pt x="0" y="114300"/>
                </a:lnTo>
                <a:cubicBezTo>
                  <a:pt x="0" y="72271"/>
                  <a:pt x="45561" y="38100"/>
                  <a:pt x="101600" y="38100"/>
                </a:cubicBezTo>
                <a:lnTo>
                  <a:pt x="115253" y="38100"/>
                </a:lnTo>
                <a:cubicBezTo>
                  <a:pt x="132715" y="15359"/>
                  <a:pt x="165576" y="0"/>
                  <a:pt x="203200" y="0"/>
                </a:cubicBezTo>
                <a:lnTo>
                  <a:pt x="406400" y="0"/>
                </a:lnTo>
                <a:cubicBezTo>
                  <a:pt x="444024" y="0"/>
                  <a:pt x="476885" y="15359"/>
                  <a:pt x="494347" y="38100"/>
                </a:cubicBezTo>
                <a:close/>
                <a:moveTo>
                  <a:pt x="393700" y="133350"/>
                </a:moveTo>
                <a:cubicBezTo>
                  <a:pt x="414814" y="133350"/>
                  <a:pt x="431800" y="120610"/>
                  <a:pt x="431800" y="104775"/>
                </a:cubicBezTo>
                <a:cubicBezTo>
                  <a:pt x="431800" y="88940"/>
                  <a:pt x="414814" y="76200"/>
                  <a:pt x="393700" y="76200"/>
                </a:cubicBezTo>
                <a:lnTo>
                  <a:pt x="215900" y="76200"/>
                </a:lnTo>
                <a:cubicBezTo>
                  <a:pt x="194786" y="76200"/>
                  <a:pt x="177800" y="88940"/>
                  <a:pt x="177800" y="104775"/>
                </a:cubicBezTo>
                <a:cubicBezTo>
                  <a:pt x="177800" y="120610"/>
                  <a:pt x="194786" y="133350"/>
                  <a:pt x="215900" y="133350"/>
                </a:cubicBezTo>
                <a:lnTo>
                  <a:pt x="393700" y="133350"/>
                </a:lnTo>
                <a:close/>
                <a:moveTo>
                  <a:pt x="438785" y="310396"/>
                </a:moveTo>
                <a:cubicBezTo>
                  <a:pt x="449898" y="297061"/>
                  <a:pt x="444500" y="279440"/>
                  <a:pt x="426720" y="270986"/>
                </a:cubicBezTo>
                <a:cubicBezTo>
                  <a:pt x="408940" y="262533"/>
                  <a:pt x="385445" y="266700"/>
                  <a:pt x="374174" y="280035"/>
                </a:cubicBezTo>
                <a:lnTo>
                  <a:pt x="276701" y="397073"/>
                </a:lnTo>
                <a:lnTo>
                  <a:pt x="233839" y="354211"/>
                </a:lnTo>
                <a:cubicBezTo>
                  <a:pt x="221139" y="341590"/>
                  <a:pt x="197326" y="338971"/>
                  <a:pt x="180499" y="348496"/>
                </a:cubicBezTo>
                <a:cubicBezTo>
                  <a:pt x="163671" y="358021"/>
                  <a:pt x="160179" y="375880"/>
                  <a:pt x="172879" y="388501"/>
                </a:cubicBezTo>
                <a:lnTo>
                  <a:pt x="249079" y="464701"/>
                </a:lnTo>
                <a:cubicBezTo>
                  <a:pt x="256540" y="472202"/>
                  <a:pt x="268605" y="476488"/>
                  <a:pt x="281146" y="476131"/>
                </a:cubicBezTo>
                <a:cubicBezTo>
                  <a:pt x="293687" y="475774"/>
                  <a:pt x="305117" y="470773"/>
                  <a:pt x="311785" y="462677"/>
                </a:cubicBezTo>
                <a:lnTo>
                  <a:pt x="438785" y="310277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35560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Summary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72500" y="4064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Загальний висновок про якість рішення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938000" y="2540000"/>
            <a:ext cx="3048000" cy="25400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1572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3200" y="114300"/>
                </a:moveTo>
                <a:cubicBezTo>
                  <a:pt x="203200" y="51197"/>
                  <a:pt x="248708" y="0"/>
                  <a:pt x="304800" y="0"/>
                </a:cubicBezTo>
                <a:cubicBezTo>
                  <a:pt x="360892" y="0"/>
                  <a:pt x="406400" y="51197"/>
                  <a:pt x="406400" y="114300"/>
                </a:cubicBezTo>
                <a:lnTo>
                  <a:pt x="406400" y="118586"/>
                </a:lnTo>
                <a:cubicBezTo>
                  <a:pt x="406400" y="137279"/>
                  <a:pt x="392959" y="152400"/>
                  <a:pt x="376343" y="152400"/>
                </a:cubicBezTo>
                <a:lnTo>
                  <a:pt x="233363" y="152400"/>
                </a:lnTo>
                <a:cubicBezTo>
                  <a:pt x="216747" y="152400"/>
                  <a:pt x="203306" y="137279"/>
                  <a:pt x="203306" y="118586"/>
                </a:cubicBezTo>
                <a:lnTo>
                  <a:pt x="203306" y="114300"/>
                </a:lnTo>
                <a:close/>
                <a:moveTo>
                  <a:pt x="568960" y="129540"/>
                </a:moveTo>
                <a:cubicBezTo>
                  <a:pt x="580178" y="146328"/>
                  <a:pt x="577109" y="170259"/>
                  <a:pt x="562187" y="182880"/>
                </a:cubicBezTo>
                <a:lnTo>
                  <a:pt x="458682" y="270153"/>
                </a:lnTo>
                <a:cubicBezTo>
                  <a:pt x="464291" y="280749"/>
                  <a:pt x="468524" y="292417"/>
                  <a:pt x="471170" y="304800"/>
                </a:cubicBezTo>
                <a:lnTo>
                  <a:pt x="575733" y="304800"/>
                </a:lnTo>
                <a:cubicBezTo>
                  <a:pt x="594466" y="304800"/>
                  <a:pt x="609600" y="321826"/>
                  <a:pt x="609600" y="342900"/>
                </a:cubicBezTo>
                <a:cubicBezTo>
                  <a:pt x="609600" y="363974"/>
                  <a:pt x="594466" y="381000"/>
                  <a:pt x="575733" y="381000"/>
                </a:cubicBezTo>
                <a:lnTo>
                  <a:pt x="474133" y="381000"/>
                </a:lnTo>
                <a:lnTo>
                  <a:pt x="474133" y="419100"/>
                </a:lnTo>
                <a:cubicBezTo>
                  <a:pt x="474133" y="422196"/>
                  <a:pt x="474028" y="425410"/>
                  <a:pt x="473922" y="428506"/>
                </a:cubicBezTo>
                <a:lnTo>
                  <a:pt x="562187" y="502920"/>
                </a:lnTo>
                <a:cubicBezTo>
                  <a:pt x="577109" y="515541"/>
                  <a:pt x="580178" y="539472"/>
                  <a:pt x="568960" y="556260"/>
                </a:cubicBezTo>
                <a:cubicBezTo>
                  <a:pt x="557742" y="573048"/>
                  <a:pt x="536469" y="576501"/>
                  <a:pt x="521547" y="563880"/>
                </a:cubicBezTo>
                <a:lnTo>
                  <a:pt x="454766" y="507563"/>
                </a:lnTo>
                <a:cubicBezTo>
                  <a:pt x="430212" y="560189"/>
                  <a:pt x="384387" y="598289"/>
                  <a:pt x="330200" y="607457"/>
                </a:cubicBezTo>
                <a:lnTo>
                  <a:pt x="330200" y="333375"/>
                </a:lnTo>
                <a:cubicBezTo>
                  <a:pt x="330200" y="317540"/>
                  <a:pt x="318876" y="304800"/>
                  <a:pt x="304800" y="304800"/>
                </a:cubicBezTo>
                <a:cubicBezTo>
                  <a:pt x="290724" y="304800"/>
                  <a:pt x="279400" y="317540"/>
                  <a:pt x="279400" y="333375"/>
                </a:cubicBezTo>
                <a:lnTo>
                  <a:pt x="279400" y="607457"/>
                </a:lnTo>
                <a:cubicBezTo>
                  <a:pt x="225213" y="598289"/>
                  <a:pt x="179387" y="560189"/>
                  <a:pt x="154834" y="507563"/>
                </a:cubicBezTo>
                <a:lnTo>
                  <a:pt x="88053" y="563880"/>
                </a:lnTo>
                <a:cubicBezTo>
                  <a:pt x="73131" y="576501"/>
                  <a:pt x="51858" y="573048"/>
                  <a:pt x="40640" y="556260"/>
                </a:cubicBezTo>
                <a:cubicBezTo>
                  <a:pt x="29422" y="539472"/>
                  <a:pt x="32491" y="515541"/>
                  <a:pt x="47413" y="502920"/>
                </a:cubicBezTo>
                <a:lnTo>
                  <a:pt x="135678" y="428506"/>
                </a:lnTo>
                <a:cubicBezTo>
                  <a:pt x="135573" y="425410"/>
                  <a:pt x="135467" y="422315"/>
                  <a:pt x="135467" y="419100"/>
                </a:cubicBezTo>
                <a:lnTo>
                  <a:pt x="135467" y="381000"/>
                </a:lnTo>
                <a:lnTo>
                  <a:pt x="33867" y="381000"/>
                </a:lnTo>
                <a:cubicBezTo>
                  <a:pt x="15134" y="381000"/>
                  <a:pt x="0" y="363974"/>
                  <a:pt x="0" y="342900"/>
                </a:cubicBezTo>
                <a:cubicBezTo>
                  <a:pt x="0" y="321826"/>
                  <a:pt x="15134" y="304800"/>
                  <a:pt x="33867" y="304800"/>
                </a:cubicBezTo>
                <a:lnTo>
                  <a:pt x="138430" y="304800"/>
                </a:lnTo>
                <a:cubicBezTo>
                  <a:pt x="141076" y="292418"/>
                  <a:pt x="145309" y="280749"/>
                  <a:pt x="150918" y="270153"/>
                </a:cubicBezTo>
                <a:lnTo>
                  <a:pt x="47413" y="182880"/>
                </a:lnTo>
                <a:cubicBezTo>
                  <a:pt x="32491" y="170259"/>
                  <a:pt x="29422" y="146328"/>
                  <a:pt x="40640" y="129540"/>
                </a:cubicBezTo>
                <a:cubicBezTo>
                  <a:pt x="51858" y="112752"/>
                  <a:pt x="73131" y="109299"/>
                  <a:pt x="88053" y="121920"/>
                </a:cubicBezTo>
                <a:lnTo>
                  <a:pt x="203200" y="219075"/>
                </a:lnTo>
                <a:cubicBezTo>
                  <a:pt x="216218" y="213003"/>
                  <a:pt x="230505" y="209550"/>
                  <a:pt x="245533" y="209550"/>
                </a:cubicBezTo>
                <a:lnTo>
                  <a:pt x="364067" y="209550"/>
                </a:lnTo>
                <a:cubicBezTo>
                  <a:pt x="379095" y="209550"/>
                  <a:pt x="393383" y="212884"/>
                  <a:pt x="406400" y="219075"/>
                </a:cubicBezTo>
                <a:lnTo>
                  <a:pt x="521547" y="121920"/>
                </a:lnTo>
                <a:cubicBezTo>
                  <a:pt x="536469" y="109299"/>
                  <a:pt x="557742" y="112752"/>
                  <a:pt x="568960" y="1295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0" y="3556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Bugs + Originality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128500" y="4064000"/>
            <a:ext cx="266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Аналіз помилок та оригінальності коду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70000" y="5588000"/>
            <a:ext cx="13716000" cy="203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78000" y="5842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Код кандидата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52815" y="6115538"/>
            <a:ext cx="762000" cy="0"/>
          </a:xfrm>
          <a:prstGeom prst="straightConnector1">
            <a:avLst/>
          </a:prstGeom>
          <a:noFill/>
          <a:ln w="254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5334000" y="5842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Умова задачі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001000" y="6148753"/>
            <a:ext cx="762000" cy="0"/>
          </a:xfrm>
          <a:prstGeom prst="straightConnector1">
            <a:avLst/>
          </a:prstGeom>
          <a:noFill/>
          <a:ln w="254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8890000" y="5842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Anthropic API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557000" y="6148753"/>
            <a:ext cx="762000" cy="0"/>
          </a:xfrm>
          <a:prstGeom prst="straightConnector1">
            <a:avLst/>
          </a:prstGeom>
          <a:noFill/>
          <a:ln w="254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12446000" y="58420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JSON Результат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78000" y="6731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Строго типізований промпт гарантує передбачувану структуру відповіді для подальшої обробки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Premium-</a:t>
            </a:r>
            <a:r>
              <a:rPr lang="en-US" sz="3600" b="1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аналітика</a:t>
            </a:r>
            <a:r>
              <a:rPr lang="en-US" sz="3600" b="1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: Виявлення списування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377831"/>
            <a:ext cx="635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7F50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Інструмент: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FeedForward нейромережа brain.js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FF7F50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Вхідні дані: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Нормалізовані метрики: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ч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ас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виконання, вкладки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</a:pPr>
            <a:r>
              <a:rPr lang="ru-RU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paste-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події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, помилки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FF7F50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Результат: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 Anomalies Score — ймовірність списування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001000" y="1841500"/>
            <a:ext cx="6985000" cy="3810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blurRad="1270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55000" y="19304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9CB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TypeScript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55000" y="2260600"/>
            <a:ext cx="6477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678DD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import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* </a:t>
            </a:r>
            <a:r>
              <a:rPr lang="en-US" sz="1400" dirty="0">
                <a:solidFill>
                  <a:srgbClr val="C678DD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as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brain </a:t>
            </a:r>
            <a:r>
              <a:rPr lang="en-US" sz="1400" dirty="0">
                <a:solidFill>
                  <a:srgbClr val="C678DD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from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8C379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'brain.js'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;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C678DD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anomalyNet = </a:t>
            </a:r>
            <a:r>
              <a:rPr lang="en-US" sz="1400" dirty="0">
                <a:solidFill>
                  <a:srgbClr val="C678DD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new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brain.NeuralNetwork({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hiddenLayers: [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5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5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] });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C678DD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const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trainingData = [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{ input: [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1.0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1.0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1.0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1.0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1.0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],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output: { cheatProbability: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0.01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} },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{ input: [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0.1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0.0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0.1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1.0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0.0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],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  output: { cheatProbability: </a:t>
            </a:r>
            <a:r>
              <a:rPr lang="en-US" sz="1400" dirty="0">
                <a:solidFill>
                  <a:srgbClr val="D19A66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0.95</a:t>
            </a: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} }];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anomalyNet.train(trainingData);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70000" y="6350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Нейромережа працює </a:t>
            </a:r>
            <a:r>
              <a:rPr lang="en-US" sz="18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локально</a:t>
            </a: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— дані кандидатів не покидають сервер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Система авторизації та управління профілем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97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10766" y="325041"/>
                </a:moveTo>
                <a:cubicBezTo>
                  <a:pt x="421958" y="313849"/>
                  <a:pt x="421958" y="295751"/>
                  <a:pt x="410766" y="284678"/>
                </a:cubicBezTo>
                <a:lnTo>
                  <a:pt x="239316" y="113109"/>
                </a:lnTo>
                <a:cubicBezTo>
                  <a:pt x="231100" y="104894"/>
                  <a:pt x="218837" y="102513"/>
                  <a:pt x="208121" y="106918"/>
                </a:cubicBezTo>
                <a:cubicBezTo>
                  <a:pt x="197406" y="111323"/>
                  <a:pt x="190500" y="121801"/>
                  <a:pt x="190500" y="133350"/>
                </a:cubicBezTo>
                <a:lnTo>
                  <a:pt x="190500" y="228600"/>
                </a:lnTo>
                <a:lnTo>
                  <a:pt x="57150" y="228600"/>
                </a:lnTo>
                <a:cubicBezTo>
                  <a:pt x="25598" y="228600"/>
                  <a:pt x="0" y="254198"/>
                  <a:pt x="0" y="285750"/>
                </a:cubicBezTo>
                <a:lnTo>
                  <a:pt x="0" y="323850"/>
                </a:lnTo>
                <a:cubicBezTo>
                  <a:pt x="0" y="355402"/>
                  <a:pt x="25598" y="381000"/>
                  <a:pt x="57150" y="381000"/>
                </a:cubicBezTo>
                <a:lnTo>
                  <a:pt x="190500" y="381000"/>
                </a:lnTo>
                <a:lnTo>
                  <a:pt x="190500" y="476250"/>
                </a:lnTo>
                <a:cubicBezTo>
                  <a:pt x="190500" y="487799"/>
                  <a:pt x="197406" y="498277"/>
                  <a:pt x="208121" y="502682"/>
                </a:cubicBezTo>
                <a:cubicBezTo>
                  <a:pt x="218837" y="507087"/>
                  <a:pt x="231100" y="504706"/>
                  <a:pt x="239316" y="496491"/>
                </a:cubicBezTo>
                <a:lnTo>
                  <a:pt x="410766" y="325041"/>
                </a:lnTo>
                <a:close/>
                <a:moveTo>
                  <a:pt x="419100" y="495300"/>
                </a:moveTo>
                <a:cubicBezTo>
                  <a:pt x="398026" y="495300"/>
                  <a:pt x="381000" y="512326"/>
                  <a:pt x="381000" y="533400"/>
                </a:cubicBezTo>
                <a:cubicBezTo>
                  <a:pt x="381000" y="554474"/>
                  <a:pt x="398026" y="571500"/>
                  <a:pt x="419100" y="571500"/>
                </a:cubicBezTo>
                <a:lnTo>
                  <a:pt x="495300" y="571500"/>
                </a:lnTo>
                <a:cubicBezTo>
                  <a:pt x="558403" y="571500"/>
                  <a:pt x="609600" y="520303"/>
                  <a:pt x="609600" y="457200"/>
                </a:cubicBezTo>
                <a:lnTo>
                  <a:pt x="609600" y="152400"/>
                </a:lnTo>
                <a:cubicBezTo>
                  <a:pt x="609600" y="89297"/>
                  <a:pt x="558403" y="38100"/>
                  <a:pt x="495300" y="38100"/>
                </a:cubicBezTo>
                <a:lnTo>
                  <a:pt x="419100" y="38100"/>
                </a:lnTo>
                <a:cubicBezTo>
                  <a:pt x="398026" y="38100"/>
                  <a:pt x="381000" y="55126"/>
                  <a:pt x="381000" y="76200"/>
                </a:cubicBezTo>
                <a:cubicBezTo>
                  <a:pt x="381000" y="97274"/>
                  <a:pt x="398026" y="114300"/>
                  <a:pt x="419100" y="114300"/>
                </a:cubicBez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457200"/>
                </a:lnTo>
                <a:cubicBezTo>
                  <a:pt x="533400" y="478274"/>
                  <a:pt x="516374" y="495300"/>
                  <a:pt x="495300" y="495300"/>
                </a:cubicBezTo>
                <a:lnTo>
                  <a:pt x="419100" y="4953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Авторизація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4064000"/>
            <a:ext cx="355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Два шляхи входу: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JWT + bcrypt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тандартна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реєстрація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Google OAuth 2.0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 google-auth-library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 @react-oauth/google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96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61010" y="-11787"/>
                </a:moveTo>
                <a:cubicBezTo>
                  <a:pt x="477203" y="-1548"/>
                  <a:pt x="483190" y="17026"/>
                  <a:pt x="475842" y="33218"/>
                </a:cubicBezTo>
                <a:lnTo>
                  <a:pt x="369162" y="266700"/>
                </a:lnTo>
                <a:lnTo>
                  <a:pt x="566057" y="266700"/>
                </a:lnTo>
                <a:cubicBezTo>
                  <a:pt x="584427" y="266700"/>
                  <a:pt x="600755" y="276701"/>
                  <a:pt x="607015" y="291822"/>
                </a:cubicBezTo>
                <a:cubicBezTo>
                  <a:pt x="613274" y="306943"/>
                  <a:pt x="607967" y="323850"/>
                  <a:pt x="593952" y="334089"/>
                </a:cubicBezTo>
                <a:lnTo>
                  <a:pt x="202066" y="619839"/>
                </a:lnTo>
                <a:cubicBezTo>
                  <a:pt x="186690" y="631031"/>
                  <a:pt x="164783" y="631627"/>
                  <a:pt x="148590" y="621387"/>
                </a:cubicBezTo>
                <a:cubicBezTo>
                  <a:pt x="132398" y="611148"/>
                  <a:pt x="126410" y="592574"/>
                  <a:pt x="133758" y="576382"/>
                </a:cubicBezTo>
                <a:lnTo>
                  <a:pt x="240438" y="342900"/>
                </a:lnTo>
                <a:lnTo>
                  <a:pt x="43543" y="342900"/>
                </a:lnTo>
                <a:cubicBezTo>
                  <a:pt x="25173" y="342900"/>
                  <a:pt x="8845" y="332899"/>
                  <a:pt x="2585" y="317778"/>
                </a:cubicBezTo>
                <a:cubicBezTo>
                  <a:pt x="-3674" y="302657"/>
                  <a:pt x="1633" y="285750"/>
                  <a:pt x="15648" y="275511"/>
                </a:cubicBezTo>
                <a:lnTo>
                  <a:pt x="407534" y="-10239"/>
                </a:lnTo>
                <a:cubicBezTo>
                  <a:pt x="422910" y="-21431"/>
                  <a:pt x="444818" y="-22027"/>
                  <a:pt x="461010" y="-11787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Глобальний стан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50000" y="4064000"/>
            <a:ext cx="355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Стейт-менеджер </a:t>
            </a: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Zustand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б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лискавичне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оновлення UI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б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ез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перезавантаження сторінки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Мінімалістичний API з максимальною продуктивністю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6096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395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37067" y="295275"/>
                </a:moveTo>
                <a:cubicBezTo>
                  <a:pt x="307160" y="295275"/>
                  <a:pt x="364067" y="231255"/>
                  <a:pt x="364067" y="152400"/>
                </a:cubicBezTo>
                <a:cubicBezTo>
                  <a:pt x="364067" y="73545"/>
                  <a:pt x="307160" y="9525"/>
                  <a:pt x="237067" y="9525"/>
                </a:cubicBezTo>
                <a:cubicBezTo>
                  <a:pt x="166973" y="9525"/>
                  <a:pt x="110067" y="73545"/>
                  <a:pt x="110067" y="152400"/>
                </a:cubicBezTo>
                <a:cubicBezTo>
                  <a:pt x="110067" y="231255"/>
                  <a:pt x="166973" y="295275"/>
                  <a:pt x="237067" y="295275"/>
                </a:cubicBezTo>
                <a:close/>
                <a:moveTo>
                  <a:pt x="205634" y="361950"/>
                </a:moveTo>
                <a:cubicBezTo>
                  <a:pt x="101388" y="361950"/>
                  <a:pt x="16933" y="456962"/>
                  <a:pt x="16933" y="574238"/>
                </a:cubicBezTo>
                <a:cubicBezTo>
                  <a:pt x="16933" y="593765"/>
                  <a:pt x="31009" y="609600"/>
                  <a:pt x="48366" y="609600"/>
                </a:cubicBezTo>
                <a:lnTo>
                  <a:pt x="314537" y="609600"/>
                </a:lnTo>
                <a:cubicBezTo>
                  <a:pt x="276225" y="558879"/>
                  <a:pt x="254000" y="493514"/>
                  <a:pt x="254000" y="424339"/>
                </a:cubicBezTo>
                <a:lnTo>
                  <a:pt x="254000" y="387310"/>
                </a:lnTo>
                <a:cubicBezTo>
                  <a:pt x="254000" y="378619"/>
                  <a:pt x="255058" y="370046"/>
                  <a:pt x="257069" y="361950"/>
                </a:cubicBezTo>
                <a:lnTo>
                  <a:pt x="205634" y="361950"/>
                </a:lnTo>
                <a:close/>
                <a:moveTo>
                  <a:pt x="471276" y="581620"/>
                </a:moveTo>
                <a:lnTo>
                  <a:pt x="457200" y="589121"/>
                </a:lnTo>
                <a:lnTo>
                  <a:pt x="457200" y="365165"/>
                </a:lnTo>
                <a:lnTo>
                  <a:pt x="558800" y="403265"/>
                </a:lnTo>
                <a:lnTo>
                  <a:pt x="558800" y="426601"/>
                </a:lnTo>
                <a:cubicBezTo>
                  <a:pt x="558800" y="493038"/>
                  <a:pt x="524722" y="553403"/>
                  <a:pt x="471276" y="581739"/>
                </a:cubicBezTo>
                <a:close/>
                <a:moveTo>
                  <a:pt x="446511" y="308967"/>
                </a:moveTo>
                <a:lnTo>
                  <a:pt x="327977" y="353378"/>
                </a:lnTo>
                <a:cubicBezTo>
                  <a:pt x="314113" y="358616"/>
                  <a:pt x="304800" y="373142"/>
                  <a:pt x="304800" y="389573"/>
                </a:cubicBezTo>
                <a:lnTo>
                  <a:pt x="304800" y="426601"/>
                </a:lnTo>
                <a:cubicBezTo>
                  <a:pt x="304800" y="515183"/>
                  <a:pt x="350308" y="595789"/>
                  <a:pt x="421428" y="633413"/>
                </a:cubicBezTo>
                <a:lnTo>
                  <a:pt x="441007" y="643771"/>
                </a:lnTo>
                <a:cubicBezTo>
                  <a:pt x="446088" y="646390"/>
                  <a:pt x="451591" y="647819"/>
                  <a:pt x="457094" y="647819"/>
                </a:cubicBezTo>
                <a:cubicBezTo>
                  <a:pt x="462597" y="647819"/>
                  <a:pt x="468207" y="646390"/>
                  <a:pt x="473181" y="643771"/>
                </a:cubicBezTo>
                <a:lnTo>
                  <a:pt x="492760" y="633413"/>
                </a:lnTo>
                <a:cubicBezTo>
                  <a:pt x="564092" y="595670"/>
                  <a:pt x="609600" y="515064"/>
                  <a:pt x="609600" y="426482"/>
                </a:cubicBezTo>
                <a:lnTo>
                  <a:pt x="609600" y="389453"/>
                </a:lnTo>
                <a:cubicBezTo>
                  <a:pt x="609600" y="373023"/>
                  <a:pt x="600287" y="358497"/>
                  <a:pt x="586423" y="353258"/>
                </a:cubicBezTo>
                <a:lnTo>
                  <a:pt x="467889" y="308848"/>
                </a:lnTo>
                <a:cubicBezTo>
                  <a:pt x="460904" y="306229"/>
                  <a:pt x="453390" y="306229"/>
                  <a:pt x="446511" y="3088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Ролі користувачів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049000" y="4064000"/>
            <a:ext cx="355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Роботодавець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д</a:t>
            </a:r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ашборд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з аналітикою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с</a:t>
            </a:r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творення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іспитів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Кандидат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к</a:t>
            </a:r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імната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іспиту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н</a:t>
            </a:r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аписання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та відправка коду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Сучасний UI/UX (Glassmorphism)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97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8529" y="12263"/>
                </a:moveTo>
                <a:lnTo>
                  <a:pt x="274214" y="188119"/>
                </a:lnTo>
                <a:cubicBezTo>
                  <a:pt x="243417" y="211217"/>
                  <a:pt x="223838" y="248722"/>
                  <a:pt x="220663" y="289679"/>
                </a:cubicBezTo>
                <a:cubicBezTo>
                  <a:pt x="286597" y="304919"/>
                  <a:pt x="338561" y="363379"/>
                  <a:pt x="352213" y="437674"/>
                </a:cubicBezTo>
                <a:cubicBezTo>
                  <a:pt x="388726" y="434102"/>
                  <a:pt x="421958" y="412075"/>
                  <a:pt x="442489" y="377428"/>
                </a:cubicBezTo>
                <a:lnTo>
                  <a:pt x="598699" y="113705"/>
                </a:lnTo>
                <a:cubicBezTo>
                  <a:pt x="605790" y="101679"/>
                  <a:pt x="609600" y="87630"/>
                  <a:pt x="609600" y="73104"/>
                </a:cubicBezTo>
                <a:cubicBezTo>
                  <a:pt x="609600" y="32742"/>
                  <a:pt x="580496" y="0"/>
                  <a:pt x="544618" y="0"/>
                </a:cubicBezTo>
                <a:cubicBezTo>
                  <a:pt x="531813" y="0"/>
                  <a:pt x="519218" y="4286"/>
                  <a:pt x="508529" y="12263"/>
                </a:cubicBezTo>
                <a:close/>
                <a:moveTo>
                  <a:pt x="304800" y="476250"/>
                </a:moveTo>
                <a:cubicBezTo>
                  <a:pt x="304800" y="402550"/>
                  <a:pt x="251777" y="342900"/>
                  <a:pt x="186267" y="342900"/>
                </a:cubicBezTo>
                <a:cubicBezTo>
                  <a:pt x="120756" y="342900"/>
                  <a:pt x="67733" y="402550"/>
                  <a:pt x="67733" y="476250"/>
                </a:cubicBezTo>
                <a:cubicBezTo>
                  <a:pt x="67733" y="480893"/>
                  <a:pt x="67945" y="485537"/>
                  <a:pt x="68368" y="490061"/>
                </a:cubicBezTo>
                <a:cubicBezTo>
                  <a:pt x="70273" y="510897"/>
                  <a:pt x="57573" y="533400"/>
                  <a:pt x="38947" y="533400"/>
                </a:cubicBezTo>
                <a:lnTo>
                  <a:pt x="33867" y="533400"/>
                </a:lnTo>
                <a:cubicBezTo>
                  <a:pt x="15134" y="533400"/>
                  <a:pt x="0" y="550426"/>
                  <a:pt x="0" y="571500"/>
                </a:cubicBezTo>
                <a:cubicBezTo>
                  <a:pt x="0" y="592574"/>
                  <a:pt x="15134" y="609600"/>
                  <a:pt x="33867" y="609600"/>
                </a:cubicBezTo>
                <a:lnTo>
                  <a:pt x="186267" y="609600"/>
                </a:lnTo>
                <a:cubicBezTo>
                  <a:pt x="251777" y="609600"/>
                  <a:pt x="304800" y="549950"/>
                  <a:pt x="304800" y="4762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Концепція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4064000"/>
            <a:ext cx="3729892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Відмова від "важких" UI-бібліотек на користь </a:t>
            </a: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чистого CSS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м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аксимальна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продуктивність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м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інімальний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bundle size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96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41867" y="114300"/>
                </a:moveTo>
                <a:lnTo>
                  <a:pt x="169333" y="114300"/>
                </a:lnTo>
                <a:cubicBezTo>
                  <a:pt x="169333" y="72271"/>
                  <a:pt x="199707" y="38100"/>
                  <a:pt x="237067" y="38100"/>
                </a:cubicBezTo>
                <a:lnTo>
                  <a:pt x="541867" y="38100"/>
                </a:lnTo>
                <a:cubicBezTo>
                  <a:pt x="579226" y="38100"/>
                  <a:pt x="609600" y="72271"/>
                  <a:pt x="609600" y="114300"/>
                </a:cubicBezTo>
                <a:lnTo>
                  <a:pt x="609600" y="342900"/>
                </a:lnTo>
                <a:cubicBezTo>
                  <a:pt x="609600" y="384929"/>
                  <a:pt x="579226" y="419100"/>
                  <a:pt x="541867" y="419100"/>
                </a:cubicBezTo>
                <a:lnTo>
                  <a:pt x="491067" y="419100"/>
                </a:lnTo>
                <a:lnTo>
                  <a:pt x="491067" y="342900"/>
                </a:lnTo>
                <a:lnTo>
                  <a:pt x="541867" y="342900"/>
                </a:lnTo>
                <a:lnTo>
                  <a:pt x="541867" y="114300"/>
                </a:lnTo>
                <a:close/>
                <a:moveTo>
                  <a:pt x="0" y="266700"/>
                </a:moveTo>
                <a:cubicBezTo>
                  <a:pt x="0" y="224671"/>
                  <a:pt x="30374" y="190500"/>
                  <a:pt x="67733" y="190500"/>
                </a:cubicBezTo>
                <a:lnTo>
                  <a:pt x="372533" y="190500"/>
                </a:lnTo>
                <a:cubicBezTo>
                  <a:pt x="409892" y="190500"/>
                  <a:pt x="440267" y="224671"/>
                  <a:pt x="440267" y="266700"/>
                </a:cubicBezTo>
                <a:lnTo>
                  <a:pt x="440267" y="495300"/>
                </a:lnTo>
                <a:cubicBezTo>
                  <a:pt x="440267" y="537329"/>
                  <a:pt x="409892" y="571500"/>
                  <a:pt x="372533" y="571500"/>
                </a:cubicBezTo>
                <a:lnTo>
                  <a:pt x="67733" y="571500"/>
                </a:lnTo>
                <a:cubicBezTo>
                  <a:pt x="30374" y="571500"/>
                  <a:pt x="0" y="537329"/>
                  <a:pt x="0" y="495300"/>
                </a:cubicBezTo>
                <a:lnTo>
                  <a:pt x="0" y="266700"/>
                </a:lnTo>
                <a:close/>
                <a:moveTo>
                  <a:pt x="67733" y="314325"/>
                </a:moveTo>
                <a:cubicBezTo>
                  <a:pt x="67733" y="330160"/>
                  <a:pt x="79058" y="342900"/>
                  <a:pt x="93133" y="342900"/>
                </a:cubicBezTo>
                <a:lnTo>
                  <a:pt x="347133" y="342900"/>
                </a:lnTo>
                <a:cubicBezTo>
                  <a:pt x="361209" y="342900"/>
                  <a:pt x="372533" y="330160"/>
                  <a:pt x="372533" y="314325"/>
                </a:cubicBezTo>
                <a:cubicBezTo>
                  <a:pt x="372533" y="298490"/>
                  <a:pt x="361209" y="285750"/>
                  <a:pt x="347133" y="285750"/>
                </a:cubicBezTo>
                <a:lnTo>
                  <a:pt x="93133" y="285750"/>
                </a:lnTo>
                <a:cubicBezTo>
                  <a:pt x="79058" y="285750"/>
                  <a:pt x="67733" y="298490"/>
                  <a:pt x="67733" y="3143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Glassmorphism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50000" y="4064000"/>
            <a:ext cx="355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Напівпрозорі фони: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 rgba() фони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 backdrop-filter blur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- </a:t>
            </a:r>
            <a:r>
              <a:rPr lang="uk-UA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б</a:t>
            </a:r>
            <a:r>
              <a:rPr lang="en-US" sz="2000" dirty="0" err="1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агаторівневий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інтерфейс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6096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395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5400" y="76200"/>
                </a:moveTo>
                <a:cubicBezTo>
                  <a:pt x="25400" y="34171"/>
                  <a:pt x="70961" y="0"/>
                  <a:pt x="127000" y="0"/>
                </a:cubicBezTo>
                <a:lnTo>
                  <a:pt x="482600" y="0"/>
                </a:lnTo>
                <a:cubicBezTo>
                  <a:pt x="538639" y="0"/>
                  <a:pt x="584200" y="34171"/>
                  <a:pt x="584200" y="76200"/>
                </a:cubicBezTo>
                <a:lnTo>
                  <a:pt x="584200" y="533400"/>
                </a:lnTo>
                <a:cubicBezTo>
                  <a:pt x="584200" y="575429"/>
                  <a:pt x="538639" y="609600"/>
                  <a:pt x="482600" y="609600"/>
                </a:cubicBezTo>
                <a:lnTo>
                  <a:pt x="127000" y="609600"/>
                </a:lnTo>
                <a:cubicBezTo>
                  <a:pt x="70961" y="609600"/>
                  <a:pt x="25400" y="575429"/>
                  <a:pt x="25400" y="533400"/>
                </a:cubicBezTo>
                <a:lnTo>
                  <a:pt x="25400" y="76200"/>
                </a:lnTo>
                <a:close/>
                <a:moveTo>
                  <a:pt x="203200" y="523875"/>
                </a:moveTo>
                <a:cubicBezTo>
                  <a:pt x="203200" y="539710"/>
                  <a:pt x="220186" y="552450"/>
                  <a:pt x="241300" y="552450"/>
                </a:cubicBezTo>
                <a:lnTo>
                  <a:pt x="368300" y="552450"/>
                </a:lnTo>
                <a:cubicBezTo>
                  <a:pt x="389414" y="552450"/>
                  <a:pt x="406400" y="539710"/>
                  <a:pt x="406400" y="523875"/>
                </a:cubicBezTo>
                <a:cubicBezTo>
                  <a:pt x="406400" y="508040"/>
                  <a:pt x="389414" y="495300"/>
                  <a:pt x="368300" y="495300"/>
                </a:cubicBezTo>
                <a:lnTo>
                  <a:pt x="241300" y="495300"/>
                </a:lnTo>
                <a:cubicBezTo>
                  <a:pt x="220186" y="495300"/>
                  <a:pt x="203200" y="508040"/>
                  <a:pt x="203200" y="523875"/>
                </a:cubicBezTo>
                <a:close/>
                <a:moveTo>
                  <a:pt x="482600" y="76200"/>
                </a:moveTo>
                <a:lnTo>
                  <a:pt x="127000" y="76200"/>
                </a:lnTo>
                <a:lnTo>
                  <a:pt x="127000" y="438150"/>
                </a:lnTo>
                <a:lnTo>
                  <a:pt x="482600" y="438150"/>
                </a:lnTo>
                <a:lnTo>
                  <a:pt x="482600" y="762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Адаптивність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049000" y="4064000"/>
            <a:ext cx="355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Чуйний дизайн компонентів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Sidebar, Dashboard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п</a:t>
            </a:r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лавні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мікро-анімації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React Router навігація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Оптимізовано для різних екранів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E2E Тестування (Cypress)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445000" cy="457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877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29540" y="152400"/>
                </a:moveTo>
                <a:cubicBezTo>
                  <a:pt x="129540" y="73545"/>
                  <a:pt x="180756" y="9525"/>
                  <a:pt x="243840" y="9525"/>
                </a:cubicBezTo>
                <a:cubicBezTo>
                  <a:pt x="306924" y="9525"/>
                  <a:pt x="358140" y="73545"/>
                  <a:pt x="358140" y="152400"/>
                </a:cubicBezTo>
                <a:cubicBezTo>
                  <a:pt x="358140" y="231255"/>
                  <a:pt x="306924" y="295275"/>
                  <a:pt x="243840" y="295275"/>
                </a:cubicBezTo>
                <a:cubicBezTo>
                  <a:pt x="180756" y="295275"/>
                  <a:pt x="129540" y="231255"/>
                  <a:pt x="129540" y="152400"/>
                </a:cubicBezTo>
                <a:close/>
                <a:moveTo>
                  <a:pt x="45720" y="574238"/>
                </a:moveTo>
                <a:cubicBezTo>
                  <a:pt x="45720" y="456962"/>
                  <a:pt x="121730" y="361950"/>
                  <a:pt x="215551" y="361950"/>
                </a:cubicBezTo>
                <a:lnTo>
                  <a:pt x="272129" y="361950"/>
                </a:lnTo>
                <a:cubicBezTo>
                  <a:pt x="365951" y="361950"/>
                  <a:pt x="441960" y="456962"/>
                  <a:pt x="441960" y="574238"/>
                </a:cubicBezTo>
                <a:cubicBezTo>
                  <a:pt x="441960" y="593765"/>
                  <a:pt x="429292" y="609600"/>
                  <a:pt x="413671" y="609600"/>
                </a:cubicBezTo>
                <a:lnTo>
                  <a:pt x="74009" y="609600"/>
                </a:lnTo>
                <a:cubicBezTo>
                  <a:pt x="58388" y="609600"/>
                  <a:pt x="45720" y="593765"/>
                  <a:pt x="45720" y="574238"/>
                </a:cubicBezTo>
                <a:close/>
                <a:moveTo>
                  <a:pt x="583311" y="157996"/>
                </a:moveTo>
                <a:lnTo>
                  <a:pt x="507111" y="310396"/>
                </a:lnTo>
                <a:cubicBezTo>
                  <a:pt x="503110" y="318373"/>
                  <a:pt x="496252" y="323374"/>
                  <a:pt x="488728" y="323850"/>
                </a:cubicBezTo>
                <a:cubicBezTo>
                  <a:pt x="481203" y="324326"/>
                  <a:pt x="473964" y="320040"/>
                  <a:pt x="469487" y="312420"/>
                </a:cubicBezTo>
                <a:lnTo>
                  <a:pt x="423767" y="236220"/>
                </a:lnTo>
                <a:cubicBezTo>
                  <a:pt x="416147" y="223599"/>
                  <a:pt x="418243" y="205740"/>
                  <a:pt x="428339" y="196215"/>
                </a:cubicBezTo>
                <a:cubicBezTo>
                  <a:pt x="438436" y="186690"/>
                  <a:pt x="452723" y="189309"/>
                  <a:pt x="460343" y="201930"/>
                </a:cubicBezTo>
                <a:lnTo>
                  <a:pt x="486061" y="244793"/>
                </a:lnTo>
                <a:lnTo>
                  <a:pt x="544544" y="127754"/>
                </a:lnTo>
                <a:cubicBezTo>
                  <a:pt x="551212" y="114419"/>
                  <a:pt x="565309" y="110252"/>
                  <a:pt x="576072" y="118705"/>
                </a:cubicBezTo>
                <a:cubicBezTo>
                  <a:pt x="586835" y="127159"/>
                  <a:pt x="590074" y="144661"/>
                  <a:pt x="583311" y="158115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68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Чесний кандидат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3683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а</a:t>
            </a:r>
            <a:r>
              <a:rPr lang="en-US" sz="1800" dirty="0" err="1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втоматичний</a:t>
            </a: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вхід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в</a:t>
            </a:r>
            <a:r>
              <a:rPr lang="en-US" sz="1800" dirty="0" err="1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ведення</a:t>
            </a: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правильного коду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у</a:t>
            </a:r>
            <a:r>
              <a:rPr lang="en-US" sz="1800" dirty="0" err="1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спішна</a:t>
            </a: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відправка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6B9CB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Перехоплення Docker-запитів через cy.intercept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96000" y="2032000"/>
            <a:ext cx="4445000" cy="457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37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29921" y="152400"/>
                </a:moveTo>
                <a:cubicBezTo>
                  <a:pt x="129921" y="101356"/>
                  <a:pt x="151706" y="54189"/>
                  <a:pt x="187071" y="28667"/>
                </a:cubicBezTo>
                <a:cubicBezTo>
                  <a:pt x="222436" y="3144"/>
                  <a:pt x="266006" y="3144"/>
                  <a:pt x="301371" y="28667"/>
                </a:cubicBezTo>
                <a:cubicBezTo>
                  <a:pt x="336736" y="54189"/>
                  <a:pt x="358521" y="101356"/>
                  <a:pt x="358521" y="152400"/>
                </a:cubicBezTo>
                <a:cubicBezTo>
                  <a:pt x="358521" y="231255"/>
                  <a:pt x="307305" y="295275"/>
                  <a:pt x="244221" y="295275"/>
                </a:cubicBezTo>
                <a:cubicBezTo>
                  <a:pt x="181137" y="295275"/>
                  <a:pt x="129921" y="231255"/>
                  <a:pt x="129921" y="152400"/>
                </a:cubicBezTo>
                <a:close/>
                <a:moveTo>
                  <a:pt x="46101" y="574238"/>
                </a:moveTo>
                <a:cubicBezTo>
                  <a:pt x="46101" y="456962"/>
                  <a:pt x="122110" y="361950"/>
                  <a:pt x="215932" y="361950"/>
                </a:cubicBezTo>
                <a:lnTo>
                  <a:pt x="272510" y="361950"/>
                </a:lnTo>
                <a:cubicBezTo>
                  <a:pt x="366332" y="361950"/>
                  <a:pt x="442341" y="456962"/>
                  <a:pt x="442341" y="574238"/>
                </a:cubicBezTo>
                <a:cubicBezTo>
                  <a:pt x="442341" y="593765"/>
                  <a:pt x="429673" y="609600"/>
                  <a:pt x="414052" y="609600"/>
                </a:cubicBezTo>
                <a:lnTo>
                  <a:pt x="74390" y="609600"/>
                </a:lnTo>
                <a:cubicBezTo>
                  <a:pt x="58769" y="609600"/>
                  <a:pt x="46101" y="593765"/>
                  <a:pt x="46101" y="574238"/>
                </a:cubicBezTo>
                <a:close/>
                <a:moveTo>
                  <a:pt x="583216" y="147757"/>
                </a:moveTo>
                <a:cubicBezTo>
                  <a:pt x="592169" y="158948"/>
                  <a:pt x="592169" y="177046"/>
                  <a:pt x="583216" y="188119"/>
                </a:cubicBezTo>
                <a:lnTo>
                  <a:pt x="550926" y="228481"/>
                </a:lnTo>
                <a:lnTo>
                  <a:pt x="583216" y="268843"/>
                </a:lnTo>
                <a:cubicBezTo>
                  <a:pt x="592169" y="280035"/>
                  <a:pt x="592169" y="298133"/>
                  <a:pt x="583216" y="309205"/>
                </a:cubicBezTo>
                <a:cubicBezTo>
                  <a:pt x="574262" y="320278"/>
                  <a:pt x="559784" y="320397"/>
                  <a:pt x="550926" y="309205"/>
                </a:cubicBezTo>
                <a:lnTo>
                  <a:pt x="518636" y="268843"/>
                </a:lnTo>
                <a:lnTo>
                  <a:pt x="486347" y="309205"/>
                </a:lnTo>
                <a:cubicBezTo>
                  <a:pt x="477393" y="320397"/>
                  <a:pt x="462915" y="320397"/>
                  <a:pt x="454057" y="309205"/>
                </a:cubicBezTo>
                <a:cubicBezTo>
                  <a:pt x="445199" y="298013"/>
                  <a:pt x="445103" y="279916"/>
                  <a:pt x="454057" y="268843"/>
                </a:cubicBezTo>
                <a:lnTo>
                  <a:pt x="486347" y="228481"/>
                </a:lnTo>
                <a:lnTo>
                  <a:pt x="454057" y="188119"/>
                </a:lnTo>
                <a:cubicBezTo>
                  <a:pt x="445103" y="176927"/>
                  <a:pt x="445103" y="158829"/>
                  <a:pt x="454057" y="147757"/>
                </a:cubicBezTo>
                <a:cubicBezTo>
                  <a:pt x="463010" y="136684"/>
                  <a:pt x="477488" y="136565"/>
                  <a:pt x="486347" y="147757"/>
                </a:cubicBezTo>
                <a:lnTo>
                  <a:pt x="518636" y="188119"/>
                </a:lnTo>
                <a:lnTo>
                  <a:pt x="550926" y="147757"/>
                </a:lnTo>
                <a:cubicBezTo>
                  <a:pt x="559879" y="136565"/>
                  <a:pt x="574357" y="136565"/>
                  <a:pt x="583216" y="147757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0" y="3302000"/>
            <a:ext cx="368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Симуляція шахрая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77000" y="3937000"/>
            <a:ext cx="3683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в</a:t>
            </a:r>
            <a:r>
              <a:rPr lang="en-US" sz="1800" dirty="0" err="1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трата</a:t>
            </a: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фокусу вікна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 cy.window().trigger('blur')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в</a:t>
            </a:r>
            <a:r>
              <a:rPr lang="en-US" sz="1800" dirty="0" err="1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ставка</a:t>
            </a: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коду (paste)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ш</a:t>
            </a:r>
            <a:r>
              <a:rPr lang="en-US" sz="1800" dirty="0" err="1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видка</a:t>
            </a:r>
            <a:r>
              <a:rPr lang="en-US" sz="18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відправка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6B9CB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Без тестування коду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22000" y="2032000"/>
            <a:ext cx="4064000" cy="457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649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4347" y="38100"/>
                </a:moveTo>
                <a:lnTo>
                  <a:pt x="508000" y="38100"/>
                </a:lnTo>
                <a:cubicBezTo>
                  <a:pt x="564039" y="38100"/>
                  <a:pt x="609600" y="72271"/>
                  <a:pt x="609600" y="114300"/>
                </a:cubicBezTo>
                <a:lnTo>
                  <a:pt x="609600" y="533400"/>
                </a:lnTo>
                <a:cubicBezTo>
                  <a:pt x="609600" y="575429"/>
                  <a:pt x="564039" y="609600"/>
                  <a:pt x="508000" y="609600"/>
                </a:cubicBezTo>
                <a:lnTo>
                  <a:pt x="101600" y="609600"/>
                </a:lnTo>
                <a:cubicBezTo>
                  <a:pt x="45561" y="609600"/>
                  <a:pt x="0" y="575429"/>
                  <a:pt x="0" y="533400"/>
                </a:cubicBezTo>
                <a:lnTo>
                  <a:pt x="0" y="114300"/>
                </a:lnTo>
                <a:cubicBezTo>
                  <a:pt x="0" y="72271"/>
                  <a:pt x="45561" y="38100"/>
                  <a:pt x="101600" y="38100"/>
                </a:cubicBezTo>
                <a:lnTo>
                  <a:pt x="115253" y="38100"/>
                </a:lnTo>
                <a:cubicBezTo>
                  <a:pt x="132715" y="15359"/>
                  <a:pt x="165576" y="0"/>
                  <a:pt x="203200" y="0"/>
                </a:cubicBezTo>
                <a:lnTo>
                  <a:pt x="406400" y="0"/>
                </a:lnTo>
                <a:cubicBezTo>
                  <a:pt x="444024" y="0"/>
                  <a:pt x="476885" y="15359"/>
                  <a:pt x="494347" y="38100"/>
                </a:cubicBezTo>
                <a:close/>
                <a:moveTo>
                  <a:pt x="393700" y="133350"/>
                </a:moveTo>
                <a:cubicBezTo>
                  <a:pt x="414814" y="133350"/>
                  <a:pt x="431800" y="120610"/>
                  <a:pt x="431800" y="104775"/>
                </a:cubicBezTo>
                <a:cubicBezTo>
                  <a:pt x="431800" y="88940"/>
                  <a:pt x="414814" y="76200"/>
                  <a:pt x="393700" y="76200"/>
                </a:cubicBezTo>
                <a:lnTo>
                  <a:pt x="215900" y="76200"/>
                </a:lnTo>
                <a:cubicBezTo>
                  <a:pt x="194786" y="76200"/>
                  <a:pt x="177800" y="88940"/>
                  <a:pt x="177800" y="104775"/>
                </a:cubicBezTo>
                <a:cubicBezTo>
                  <a:pt x="177800" y="120610"/>
                  <a:pt x="194786" y="133350"/>
                  <a:pt x="215900" y="133350"/>
                </a:cubicBezTo>
                <a:lnTo>
                  <a:pt x="393700" y="133350"/>
                </a:lnTo>
                <a:close/>
                <a:moveTo>
                  <a:pt x="203200" y="304800"/>
                </a:moveTo>
                <a:cubicBezTo>
                  <a:pt x="203200" y="283772"/>
                  <a:pt x="180437" y="266700"/>
                  <a:pt x="152400" y="266700"/>
                </a:cubicBezTo>
                <a:cubicBezTo>
                  <a:pt x="124363" y="266700"/>
                  <a:pt x="101600" y="283772"/>
                  <a:pt x="101600" y="304800"/>
                </a:cubicBezTo>
                <a:cubicBezTo>
                  <a:pt x="101600" y="325828"/>
                  <a:pt x="124363" y="342900"/>
                  <a:pt x="152400" y="342900"/>
                </a:cubicBezTo>
                <a:cubicBezTo>
                  <a:pt x="180437" y="342900"/>
                  <a:pt x="203200" y="325828"/>
                  <a:pt x="203200" y="304800"/>
                </a:cubicBezTo>
                <a:close/>
                <a:moveTo>
                  <a:pt x="254000" y="304800"/>
                </a:moveTo>
                <a:cubicBezTo>
                  <a:pt x="254000" y="320635"/>
                  <a:pt x="270986" y="333375"/>
                  <a:pt x="292100" y="333375"/>
                </a:cubicBezTo>
                <a:lnTo>
                  <a:pt x="469900" y="333375"/>
                </a:lnTo>
                <a:cubicBezTo>
                  <a:pt x="491014" y="333375"/>
                  <a:pt x="508000" y="320635"/>
                  <a:pt x="508000" y="304800"/>
                </a:cubicBezTo>
                <a:cubicBezTo>
                  <a:pt x="508000" y="288965"/>
                  <a:pt x="491014" y="276225"/>
                  <a:pt x="469900" y="276225"/>
                </a:cubicBezTo>
                <a:lnTo>
                  <a:pt x="292100" y="276225"/>
                </a:lnTo>
                <a:cubicBezTo>
                  <a:pt x="270986" y="276225"/>
                  <a:pt x="254000" y="288965"/>
                  <a:pt x="254000" y="304800"/>
                </a:cubicBezTo>
                <a:close/>
                <a:moveTo>
                  <a:pt x="254000" y="457200"/>
                </a:moveTo>
                <a:cubicBezTo>
                  <a:pt x="254000" y="473035"/>
                  <a:pt x="270986" y="485775"/>
                  <a:pt x="292100" y="485775"/>
                </a:cubicBezTo>
                <a:lnTo>
                  <a:pt x="469900" y="485775"/>
                </a:lnTo>
                <a:cubicBezTo>
                  <a:pt x="491014" y="485775"/>
                  <a:pt x="508000" y="473035"/>
                  <a:pt x="508000" y="457200"/>
                </a:cubicBezTo>
                <a:cubicBezTo>
                  <a:pt x="508000" y="441365"/>
                  <a:pt x="491014" y="428625"/>
                  <a:pt x="469900" y="428625"/>
                </a:cubicBezTo>
                <a:lnTo>
                  <a:pt x="292100" y="428625"/>
                </a:lnTo>
                <a:cubicBezTo>
                  <a:pt x="270986" y="428625"/>
                  <a:pt x="254000" y="441365"/>
                  <a:pt x="254000" y="457200"/>
                </a:cubicBezTo>
                <a:close/>
                <a:moveTo>
                  <a:pt x="152400" y="495300"/>
                </a:moveTo>
                <a:cubicBezTo>
                  <a:pt x="180437" y="495300"/>
                  <a:pt x="203200" y="478228"/>
                  <a:pt x="203200" y="457200"/>
                </a:cubicBezTo>
                <a:cubicBezTo>
                  <a:pt x="203200" y="436172"/>
                  <a:pt x="180437" y="419100"/>
                  <a:pt x="152400" y="419100"/>
                </a:cubicBezTo>
                <a:cubicBezTo>
                  <a:pt x="124363" y="419100"/>
                  <a:pt x="101600" y="436172"/>
                  <a:pt x="101600" y="457200"/>
                </a:cubicBezTo>
                <a:cubicBezTo>
                  <a:pt x="101600" y="478228"/>
                  <a:pt x="124363" y="495300"/>
                  <a:pt x="152400" y="495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6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Перевірка результату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76000" y="3937000"/>
            <a:ext cx="3556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а</a:t>
            </a:r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вторизація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роботодавця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в</a:t>
            </a:r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алідація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дашборду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- </a:t>
            </a:r>
            <a:r>
              <a:rPr lang="uk-UA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п</a:t>
            </a:r>
            <a:r>
              <a:rPr lang="en-US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еревірка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 попередження: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"Підозріла активність"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Cheat Detection OK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6985000"/>
            <a:ext cx="13716000" cy="762000"/>
          </a:xfrm>
          <a:prstGeom prst="roundRect">
            <a:avLst>
              <a:gd name="adj" fmla="val 8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78000" y="7048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Налаштовано наскрізне тестування флоу співбесіди (</a:t>
            </a:r>
            <a:r>
              <a:rPr lang="en-US" sz="2000" b="1" dirty="0">
                <a:solidFill>
                  <a:srgbClr val="FF7F50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Interview Flow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) за допомогою Cypress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Публікація результатів та наукова новизна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223000" cy="508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41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40196"/>
                </a:moveTo>
                <a:lnTo>
                  <a:pt x="254000" y="447080"/>
                </a:lnTo>
                <a:lnTo>
                  <a:pt x="254496" y="446881"/>
                </a:lnTo>
                <a:cubicBezTo>
                  <a:pt x="308670" y="424359"/>
                  <a:pt x="366812" y="412750"/>
                  <a:pt x="425450" y="412750"/>
                </a:cubicBezTo>
                <a:lnTo>
                  <a:pt x="444500" y="412750"/>
                </a:lnTo>
                <a:lnTo>
                  <a:pt x="444500" y="95250"/>
                </a:lnTo>
                <a:lnTo>
                  <a:pt x="425450" y="95250"/>
                </a:lnTo>
                <a:cubicBezTo>
                  <a:pt x="383580" y="95250"/>
                  <a:pt x="342007" y="103584"/>
                  <a:pt x="303312" y="119658"/>
                </a:cubicBezTo>
                <a:cubicBezTo>
                  <a:pt x="286643" y="126603"/>
                  <a:pt x="270173" y="133449"/>
                  <a:pt x="254000" y="140196"/>
                </a:cubicBezTo>
                <a:close/>
                <a:moveTo>
                  <a:pt x="229096" y="61020"/>
                </a:moveTo>
                <a:lnTo>
                  <a:pt x="254000" y="71438"/>
                </a:lnTo>
                <a:lnTo>
                  <a:pt x="278904" y="61020"/>
                </a:lnTo>
                <a:cubicBezTo>
                  <a:pt x="325338" y="41672"/>
                  <a:pt x="375146" y="31750"/>
                  <a:pt x="425450" y="31750"/>
                </a:cubicBezTo>
                <a:lnTo>
                  <a:pt x="460375" y="31750"/>
                </a:lnTo>
                <a:cubicBezTo>
                  <a:pt x="486668" y="31750"/>
                  <a:pt x="508000" y="53082"/>
                  <a:pt x="508000" y="79375"/>
                </a:cubicBezTo>
                <a:lnTo>
                  <a:pt x="508000" y="428625"/>
                </a:lnTo>
                <a:cubicBezTo>
                  <a:pt x="508000" y="454918"/>
                  <a:pt x="486668" y="476250"/>
                  <a:pt x="460375" y="476250"/>
                </a:cubicBezTo>
                <a:lnTo>
                  <a:pt x="425450" y="476250"/>
                </a:lnTo>
                <a:cubicBezTo>
                  <a:pt x="375146" y="476250"/>
                  <a:pt x="325338" y="486172"/>
                  <a:pt x="278904" y="505520"/>
                </a:cubicBezTo>
                <a:lnTo>
                  <a:pt x="266204" y="510778"/>
                </a:lnTo>
                <a:cubicBezTo>
                  <a:pt x="258366" y="514052"/>
                  <a:pt x="249634" y="514052"/>
                  <a:pt x="241796" y="510778"/>
                </a:cubicBezTo>
                <a:lnTo>
                  <a:pt x="229096" y="505520"/>
                </a:lnTo>
                <a:cubicBezTo>
                  <a:pt x="182662" y="486172"/>
                  <a:pt x="132854" y="476250"/>
                  <a:pt x="82550" y="476250"/>
                </a:cubicBezTo>
                <a:lnTo>
                  <a:pt x="47625" y="476250"/>
                </a:lnTo>
                <a:cubicBezTo>
                  <a:pt x="21332" y="476250"/>
                  <a:pt x="0" y="454918"/>
                  <a:pt x="0" y="428625"/>
                </a:cubicBezTo>
                <a:lnTo>
                  <a:pt x="0" y="79375"/>
                </a:lnTo>
                <a:cubicBezTo>
                  <a:pt x="0" y="53082"/>
                  <a:pt x="21332" y="31750"/>
                  <a:pt x="47625" y="31750"/>
                </a:cubicBezTo>
                <a:lnTo>
                  <a:pt x="82550" y="31750"/>
                </a:lnTo>
                <a:cubicBezTo>
                  <a:pt x="132854" y="31750"/>
                  <a:pt x="182662" y="41672"/>
                  <a:pt x="229096" y="6102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41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Тема публікації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3174999"/>
            <a:ext cx="5335954" cy="2807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i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"</a:t>
            </a:r>
            <a:r>
              <a:rPr lang="ru-RU" i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ВЕБПЛАТФОРМА ДЛЯ ПРОВЕДЕННЯ ТЕХНІЧНИХ ІНТЕРВ’Ю ТА АВТОМАТИЗОВАНОГО ОЦІНЮВАННЯ КАНДИДАТІВ У РЕЖИМІ РЕАЛЬНОГО ЧАСУ</a:t>
            </a:r>
            <a:r>
              <a:rPr lang="en-US" i="1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"</a:t>
            </a:r>
            <a:endParaRPr lang="en-US" dirty="0">
              <a:latin typeface="Times New Roman" panose="02020603050405020304" pitchFamily="18" charset="0"/>
              <a:ea typeface="Liter"/>
            </a:endParaRP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/>
                <a:cs typeface="Times New Roman" panose="02020603050405020304" pitchFamily="18" charset="0"/>
              </a:rPr>
              <a:t>Оцінювання кандидатів у IT</a:t>
            </a:r>
            <a:endParaRPr lang="en-US" sz="2000" dirty="0">
              <a:latin typeface="Times New Roman" panose="02020603050405020304" pitchFamily="18" charset="0"/>
              <a:ea typeface="Liter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270000" y="7366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8000" y="768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540000" y="7493000"/>
            <a:ext cx="1193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Підтвердження працездатності:</a:t>
            </a:r>
            <a:r>
              <a:rPr lang="en-US" sz="2000" dirty="0">
                <a:solidFill>
                  <a:srgbClr val="3C4A5A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Концепція реалізована та протестована — платформа функціональна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flip="none" rotWithShape="1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flip="none" rotWithShape="1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1524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Висновки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6858000" y="2667000"/>
            <a:ext cx="2540000" cy="25400"/>
          </a:xfrm>
          <a:prstGeom prst="rect">
            <a:avLst/>
          </a:prstGeom>
          <a:solidFill>
            <a:srgbClr val="FFFFFF">
              <a:alpha val="31373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948354" y="2921000"/>
            <a:ext cx="10359292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uk-UA" sz="20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творено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повноцінну вебплатформу для проведення технічних інтерв'ю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uk-UA" sz="20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і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нтеграція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Monaco Editor дозволила відтворити комфортні умови для розробників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uk-UA" sz="20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з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в'язка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WebSocket-моніторингу, LLM-перевірки та нейромережі довела високу ефективність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FF7F50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●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 </a:t>
            </a:r>
            <a:r>
              <a:rPr lang="uk-UA" sz="20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</a:t>
            </a:r>
            <a:r>
              <a:rPr lang="en-US" sz="2000" dirty="0" err="1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учасний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 UI/UX та стабільна архітектура роблять платформу готовою до впровадження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48000" y="6477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Дякую за увагу!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318000" y="73660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Сотников Є. Р. | гр. ПЗПІ-22-9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1942</TotalTime>
  <Words>1205</Words>
  <Application>Microsoft Office PowerPoint</Application>
  <PresentationFormat>Custom</PresentationFormat>
  <Paragraphs>238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Liter</vt:lpstr>
      <vt:lpstr>MiSans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Вебплатформа для проведення технічних інтерв'ю</dc:title>
  <dc:subject>Вебплатформа для проведення технічних інтерв'ю</dc:subject>
  <dc:creator>Kimi</dc:creator>
  <cp:lastModifiedBy>Егор Сотников</cp:lastModifiedBy>
  <cp:revision>7</cp:revision>
  <dcterms:created xsi:type="dcterms:W3CDTF">2026-06-24T18:22:23Z</dcterms:created>
  <dcterms:modified xsi:type="dcterms:W3CDTF">2026-06-29T17:25:22Z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{"Label":"Вебплатформа для проведення технічних інтерв'ю","ContentProducer":"001191110108MACG2KBH8F10000","ProduceID":"19efac51-a672-84d3-8000-0000c656237f","ReservedCode1":"","ContentPropagator":"001191110108MACG2KBH8F20000","PropagateID":"19efac25-87c2-</vt:lpwstr>
  </property>
</Properties>
</file>